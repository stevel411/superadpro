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9AA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เส้นทางสู่อิสรภาพทางการเงิน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แหล่ง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-1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รายได้</a:t>
            </a:r>
            <a:endParaRPr lang="en-US" sz="5800" dirty="0"/>
          </a:p>
        </p:txBody>
      </p:sp>
      <p:sp>
        <p:nvSpPr>
          <p:cNvPr id="10" name="Text 8"/>
          <p:cNvSpPr/>
          <p:nvPr/>
        </p:nvSpPr>
        <p:spPr>
          <a:xfrm>
            <a:off x="1371600" y="2423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สี่วิธีหาเงินกับ SuperAdPro ใช้ร่วมกัน — แต่ละแหล่งทวีผลของคุณ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แนะนำ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สมาชิก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3DA5FF">
              <a:alpha val="18000"/>
            </a:srgbClr>
          </a:solidFill>
          <a:ln w="9525">
            <a:solidFill>
              <a:srgbClr val="3DA5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 — $17.50/เดือน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06624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06624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06624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43784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4ADE80">
              <a:alpha val="18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43784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สูงสุด $103,976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54296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4296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54296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91456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C084FC">
              <a:alpha val="18000"/>
            </a:srgbClr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91456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ไม่จำกัด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601968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01968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01968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39128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FB923C">
              <a:alpha val="18000"/>
            </a:srgbClr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9128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คอมมิชชั่น 100%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เครื่องมือ AI  ·  ชำระคริปโต  ·  โอกาสระดับโลก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3DA5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แหล่งรายได้ 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แนะนำ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สมาชิก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รับคอมมิชชั่น 50% ทุกเดือน — หรือรับล่วงหน้าเมื่อคนที่แนะนำเลือกรายปี แนะนำ Pro สองคนสมาชิกชำระตัวเอง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รายเดือนซ้ำ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$10/เดือนต่อ Basic · $17.50/เดือนต่อ Pro ทุกเดือนที่ยังแอคทีฟ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ไม่จก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แนะนำไม่จำกัด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ไม่มีเพดาน 10 Pro = $175/เดือน ขยายได้ไม่มีขีดจำกัด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ชำระตัวเอง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สอง Pro ครอบคลุมค่ารายเดือน ที่เหลือเป็นกำไร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122347"/>
          </a:solidFill>
          <a:ln w="12700">
            <a:solidFill>
              <a:srgbClr val="3DA5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 — $17.50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/เดือนซ้ำ  ·  จ่ายทุกเดือน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69280" y="914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เครือข่ายแนะนำของคุณ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0" y="1325880"/>
            <a:ext cx="640080" cy="640080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CD3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0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83680" y="1984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คุณ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260336" y="2194560"/>
            <a:ext cx="18288" cy="3200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2514600"/>
            <a:ext cx="2331720" cy="18288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80760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806440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+$17.50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601968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19088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19088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327648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27648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123176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40296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40296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848856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+$17.50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848856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644384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61504" y="2606040"/>
            <a:ext cx="402336" cy="402336"/>
          </a:xfrm>
          <a:prstGeom prst="ellipse">
            <a:avLst/>
          </a:prstGeom>
          <a:solidFill>
            <a:srgbClr val="1A2544">
              <a:alpha val="70000"/>
            </a:srgbClr>
          </a:solidFill>
          <a:ln w="19050">
            <a:solidFill>
              <a:srgbClr val="8896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61504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7370064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+$?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70064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ถัดไป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165592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982712" y="2606040"/>
            <a:ext cx="402336" cy="402336"/>
          </a:xfrm>
          <a:prstGeom prst="ellipse">
            <a:avLst/>
          </a:prstGeom>
          <a:solidFill>
            <a:srgbClr val="1A2544">
              <a:alpha val="70000"/>
            </a:srgbClr>
          </a:solidFill>
          <a:ln w="19050">
            <a:solidFill>
              <a:srgbClr val="8896B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82712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7891272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+$?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891272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ถัดไป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669280" y="3520440"/>
            <a:ext cx="3200400" cy="1005840"/>
          </a:xfrm>
          <a:prstGeom prst="roundRect">
            <a:avLst>
              <a:gd name="adj" fmla="val 7273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69280" y="35661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รายได้รายเดือน · 3 คน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669280" y="38130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Basic   </a:t>
            </a:r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/เดือน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669280" y="41513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Pro   </a:t>
            </a:r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$52.50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/เดือน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669280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คอมมิชชั่นจ่ายตามระดับของคุณ — อัปเกรดเพื่อรับอัตราสูงขึ้น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3DA5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แหล่งรายได้ 1  ·  วิธีทำงาน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รายปี = </a:t>
            </a:r>
            <a:pPr indent="0" marL="0">
              <a:buNone/>
            </a:pPr>
            <a:r>
              <a:rPr lang="en-US" sz="3000" b="1" spc="-5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เงินสดทันที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เมื่อคนที่แนะนำเลือกรายปี คุณรับคอมมิชชั่นทั้งปีในวันที่สมัคร — ไม่ต้องกระจาย 12 เดือน เงินจริง ในกระเป๋า ทันที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53288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แผนรายเดือน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27340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Pro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0083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</a:t>
            </a:r>
            <a:pPr algn="ctr" indent="0" marL="0">
              <a:buNone/>
            </a:pPr>
            <a:r>
              <a:rPr lang="en-US" sz="13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/เดือน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57200" y="35021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จ่ายทุกเดือน ตราบเท่าที่ยังแอคทีฟ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75818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pPr algn="ctr" indent="0" marL="0">
              <a:buNone/>
            </a:pPr>
            <a:r>
              <a:rPr lang="en-US" sz="17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$2,100</a:t>
            </a:r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ใน 12 เดือน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42316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122347"/>
          </a:solidFill>
          <a:ln w="25400">
            <a:solidFill>
              <a:srgbClr val="3DA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313432"/>
            <a:ext cx="960120" cy="256032"/>
          </a:xfrm>
          <a:prstGeom prst="roundRect">
            <a:avLst>
              <a:gd name="adj" fmla="val 28571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2313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0A1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ดีที่สุด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54880" y="253288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แผนรายปี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0" y="27340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Pro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54880" y="30083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$1,750</a:t>
            </a:r>
            <a:pPr algn="ctr" indent="0" marL="0">
              <a:buNone/>
            </a:pPr>
            <a:r>
              <a:rPr lang="en-US" sz="13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ล่วงหน้า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4754880" y="35021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จ่ายวันเดียวกับสมัคร — คอมมิชชั่นทั้งปี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54880" y="375818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บวก: </a:t>
            </a:r>
            <a:pPr algn="ctr" indent="0" marL="0">
              <a:buNone/>
            </a:pPr>
            <a:r>
              <a:rPr lang="en-US" sz="105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ต่ออายุรายปี</a:t>
            </a:r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คุณได้อีก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434840"/>
            <a:ext cx="8229600" cy="347472"/>
          </a:xfrm>
          <a:prstGeom prst="roundRect">
            <a:avLst>
              <a:gd name="adj" fmla="val 50000"/>
            </a:avLst>
          </a:prstGeom>
          <a:solidFill>
            <a:srgbClr val="122347"/>
          </a:solidFill>
          <a:ln w="12700">
            <a:solidFill>
              <a:srgbClr val="3DA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4348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รายปี = </a:t>
            </a:r>
            <a:pPr algn="ctr" indent="0" marL="0">
              <a:buNone/>
            </a:pPr>
            <a:r>
              <a:rPr lang="en-US" sz="13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$1,750 ในมือวันนี้</a:t>
            </a:r>
            <a:pPr algn="ctr" indent="0" marL="0">
              <a:buNone/>
            </a:pPr>
            <a:r>
              <a:rPr lang="en-US" sz="10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vs  </a:t>
            </a:r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รอ 12 เดือนเพื่อเงินเท่าเดิม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2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4ADE80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4ADE8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แหล่งรายได้ 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ทุกครั้งที่คนที่แนะนำเปิดใช้งานระดับเดียวกับคุณ คุณได้ 40% ทันที — และ 6.25% ในทุกตำแหน่งของกริด 8 ชั้น เติมครบ 64 รับโบนัส รีเซ็ต ทำใหม่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คอมมิชชั่นตรง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คนแนะนำทุกคนที่เปิดใช้งานระดับของคุณจ่าย 40% ของราคาระดับทันที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6.25%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× 8 ชั้น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ได้ในทุกตำแหน่งของกริด 8×8 — ลึก 8 ชั้นใต้คุณ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โบนัสเติมเต็ม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เติมครบ 64 ตำแหน่ง ได้โบนัส กริดรีเซ็ต — รายได้ซ้ำไม่จำกัด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0F2E23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สูงสุด $103,976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กริดรีเซ็ตและทำใหม่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669280" y="868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กริดรายได้ 8×8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8932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62940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940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4944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26948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6948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58952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895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90956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8932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8932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30936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62940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2940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94944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944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26948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6948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58952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0956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2960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98932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893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30936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62940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2940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4944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4944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726948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952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90956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8932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8932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30936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0936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62940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2940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94944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26948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58952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90956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22960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98932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989320" y="2514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630936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309360" y="2514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662940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94944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26948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58952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90956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2960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98932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98932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630936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2940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94944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26948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58952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90956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22960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98932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30936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2940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4944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26948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58952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90956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22960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98932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30936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62940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94944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26948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8952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0956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22960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669280" y="39136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แต่ละตำแหน่ง = สมาชิกแอคทีฟ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5669280" y="416052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6692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ระดับ  ·  $20 → $1,000</a:t>
            </a:r>
            <a:endParaRPr lang="en-US" sz="900" dirty="0"/>
          </a:p>
        </p:txBody>
      </p:sp>
      <p:sp>
        <p:nvSpPr>
          <p:cNvPr id="114" name="Text 112"/>
          <p:cNvSpPr/>
          <p:nvPr/>
        </p:nvSpPr>
        <p:spPr>
          <a:xfrm>
            <a:off x="5669280" y="4379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→ $50 → $100 → $200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5669280" y="45811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→ $600 → $800 → $1,000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2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4ADE80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4ADE8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แหล่งรายได้ 2  ·  วิธีทำงาน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คน, </a:t>
            </a:r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รอบเต็ม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สถานการณ์: 64 คนที่แนะนำเป็นการส่วนตัวเปิดใช้ระดับเดียวกับคุณ นี่คือสิ่งที่คุณได้ต่อระดับ — และรวมข้ามทั้ง 8 ระดับ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8229600" cy="210312"/>
          </a:xfrm>
          <a:prstGeom prst="rect">
            <a:avLst/>
          </a:prstGeom>
          <a:solidFill>
            <a:srgbClr val="0F2E2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8600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ระดับ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97280" y="228600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ราคา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03120" y="228600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ตรง (40%)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566160" y="228600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(6.25%)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94960" y="228600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โบนัส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58000" y="228600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รวม / รอบ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496312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4963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7280" y="2496312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03120" y="249631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$512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66160" y="24963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394960" y="249631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858000" y="24963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$656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270662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97280" y="2706624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03120" y="270662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$1,280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566160" y="270662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394960" y="270662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858000" y="270662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$1,640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2916936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91693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97280" y="291693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103120" y="291693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$2,560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566160" y="29169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94960" y="291693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0" y="29169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$3,280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" y="312724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3127248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103120" y="312724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$5,120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566160" y="312724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394960" y="312724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858000" y="312724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$6,560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3337560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333756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097280" y="333756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103120" y="333756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$10,240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566160" y="333756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$1,600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394960" y="333756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$1,280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858000" y="333756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$13,120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7200" y="354787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T6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097280" y="3547872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103120" y="354787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$15,360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3566160" y="354787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$2,400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394960" y="354787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$1,920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858000" y="354787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$19,680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57200" y="3758184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375818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T7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1097280" y="3758184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2103120" y="375818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$20,480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566160" y="375818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394960" y="375818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$2,560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858000" y="375818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$26,240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457200" y="3968496"/>
            <a:ext cx="8229600" cy="210312"/>
          </a:xfrm>
          <a:prstGeom prst="rect">
            <a:avLst/>
          </a:prstGeom>
          <a:solidFill>
            <a:srgbClr val="4ADE80">
              <a:alpha val="2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7200" y="396849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97280" y="396849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2103120" y="396849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$25,600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3566160" y="396849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394960" y="396849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6858000" y="396849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$32,800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4389120"/>
            <a:ext cx="8229600" cy="411480"/>
          </a:xfrm>
          <a:prstGeom prst="roundRect">
            <a:avLst>
              <a:gd name="adj" fmla="val 44444"/>
            </a:avLst>
          </a:prstGeom>
          <a:solidFill>
            <a:srgbClr val="0F2E23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รวมทั้งหมดบน 8 ระดับ   </a:t>
            </a:r>
            <a:pPr algn="ctr"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$103,976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กริดรีเซ็ตและทำใหม่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0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C084F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C084F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84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แหล่งรายได้ 3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เมื่อคนที่แนะนำ — หรือใครก็ได้ในเมทริกซ์ของคุณ — ซื้อแพ็กเครดิตสำหรับ Creative Studio คุณได้ 15% จากตรง 10% จาก spillover โบนัสเติมเต็ม 10% ไม่ต้องครอบครองระดับ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แนะนำตรง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แพ็กเครดิตทุกแพ็กที่คนที่คุณแนะนำตรงซื้อ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SPILLOVER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แพ็กทุกแพ็กที่คนในเมทริกซ์ที่ไม่ใช่ตรงของคุณซื้อ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โบนัสเติมเต็ม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เมื่อเมทริกซ์ 3×3 เต็ม (39 ตำแหน่ง) ได้โบนัส รีเซ็ต ทำใหม่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ไม่จำกัด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เมทริกซ์รีเซ็ตและทำใหม่ตลอดไป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69280" y="868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 กำไร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15000" y="1234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15000" y="1463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92240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967728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7728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7443216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43216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715000" y="1920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715000" y="2148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92240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29984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67728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05472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43216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80960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15000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715000" y="27889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92240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11696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31152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370064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89520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808976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028432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47888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92240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11696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31152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150608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370064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89520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08976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028432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247888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92240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11696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31152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50608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370064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589520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08976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28432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47888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0" y="2999232"/>
            <a:ext cx="3200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+ 9 + 27 = 39 ตำแหน่งต่อเมทริกซ์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669280" y="3246120"/>
            <a:ext cx="3200400" cy="1280160"/>
          </a:xfrm>
          <a:prstGeom prst="roundRect">
            <a:avLst>
              <a:gd name="adj" fmla="val 5714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669280" y="3291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ระดับแพ็กอิสระ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669280" y="3502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 $50  $100  $200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5669280" y="37398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 $600  $800  $1,000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5669280" y="40050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แต่ละแพ็กมีเมทริกซ์ของตัวเอง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66928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ไม่ต้องครอบครองระดับ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0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C084F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C084F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84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แหล่งรายได้ 3  ·  วิธีทำงาน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ถูกใช้, </a:t>
            </a:r>
            <a:pPr indent="0" marL="0">
              <a:buNone/>
            </a:pPr>
            <a:r>
              <a:rPr lang="en-US" sz="3000" b="1" spc="-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แล้วซื้อใหม่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แพ็กเครดิตถูกใช้ไปใน Creative Studio (วิดีโอ AI ภาพ เสียง) พอหมด พวกเขาซื้อใหม่ — การซื้อแต่ละครั้งจ่ายคอมมิชชั่นอีกครั้ง นั่นคือเครื่องยนต์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331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5331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ซื้อเครดิต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438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คนแนะนำซื้อ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แพ็กเครดิต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6430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7462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6499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7462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คุณได้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6606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ตรง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เมทริกซ์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7598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68630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7667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7667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8630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เครดิตถูกใช้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774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พวกเขาใช้เครดิต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กับเครื่องมือ AI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8766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9798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9050">
            <a:solidFill>
              <a:srgbClr val="C084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8835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8835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69798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ทำซ้ำ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8942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ซื้อใหม่ 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คุณได้อีก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02336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0690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ตัวอย่าง · แพ็ก $200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297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ตรง × $30 (15%) + 9 L2 × $20 (10%) + 27 L3 × $20 (10%) + โบนัส $780 = </a:t>
            </a:r>
            <a:pPr algn="ctr"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$1,590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ต่อรอบเมทริกซ์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เมื่อพวกเขาต้องการเครดิตเพิ่ม รอบเริ่มใหม่ — การซื้อแต่ละครั้งเป็นการเติมเมทริกซ์ใหม่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FB923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B9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แหล่งรายได้ 4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ขายต่อคอร์สระดับพรีเมียมจาก Academy เก็บ 100% ของการขายทุกครั้ง — ด้วย pass-up เพียง 4 ครั้งเพื่อเปิด Income Chains ของ upline หลังการขาย 8 ทุกการขายเป็นของคุณตลอดไป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ทุกการขาย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คอมมิชชั่นเต็มทุกการขายเมื่อคุณผ่านคุณสมบัติที่ระดับนั้น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PASS-UP ทั้งหมด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เฉพาะการขาย 2, 4, 6, 8 pass-up จากการขาย 9 ทุกการขายเป็นของคุณ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หลายระดับ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ผ่านคุณสมบัติด้วยการซื้อระดับ ระดับสูง = คอมมิชชั่นใหญ่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3A121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คอมมิชชั่น 100%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cascade ไม่จำกัดผ่าน Income Chains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0" y="914400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88152" y="1060704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88152" y="10607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55080" y="10241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ตัวอย่าง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55080" y="1280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คอร์สระดับเริ่มต้น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01000" y="106070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669280" y="1719072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88152" y="1865376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88152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55080" y="1828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ตัวอย่าง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55080" y="20848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คอร์สระดับกลาง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001000" y="1865376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669280" y="2523744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788152" y="2670048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88152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355080" y="26334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ตัวอย่าง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355080" y="28895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คอร์สระดับสูง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8001000" y="2670048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669280" y="347472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CHAINS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715000" y="37673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pass-up แต่ละครั้งเปิด Income Chain เหนือคุณ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15000" y="4005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เมื่อ downline ของคุณ pass-up คุณรับ chains เหล่านั้น — cascade ไม่จำกัดขึ้นบน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FB923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B9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แหล่งรายได้ 4  ·  วิธีทำงาน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วิธีที่ 1+UP </a:t>
            </a:r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PASS-UP ทำงาน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pass-up เพียง 4 ครั้งเท่านั้น การขาย 2, 4, 6, 8 pass-up — เปิด Income Chains ของ upline การขายอื่นทุกครั้ง รวมถึงการขาย 9 และหลังจากนั้น เป็นของคุณ 100%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891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891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คุณ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ของคุณ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3385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3385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13385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3385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385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1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828800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828800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828800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คุณ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28800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ของคุณ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523744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3744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523744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523744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523744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2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218688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18688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218688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218688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คุณ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18688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ของคุณ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91363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1363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91363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91363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1363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3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0857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0857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60857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60857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คุณ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60857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ของคุณ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5303520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03520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303520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303520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303520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4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998464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98464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998464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5998464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คุณ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998464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ของคุณ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6693408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93408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693408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693408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คุณ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693408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ของคุณ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38835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8835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8835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738835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คุณ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38835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ของคุณ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08329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8329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ขาย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808329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08329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คุณ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08329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ของคุณ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57200" y="37947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และทุกการขายหลังจากนั้นเป็นของคุณ 100% ตลอดไป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" y="4023360"/>
            <a:ext cx="8229600" cy="758952"/>
          </a:xfrm>
          <a:prstGeom prst="roundRect">
            <a:avLst>
              <a:gd name="adj" fmla="val 12048"/>
            </a:avLst>
          </a:prstGeom>
          <a:solidFill>
            <a:srgbClr val="3A121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57200" y="40690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ประเด็นสำคัญ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457200" y="4297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ยอมเสีย 4 การขายเพื่อเปิด 4 Income Chains ขึ้นบน  ·  แล้วเก็บ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ทุก</a:t>
            </a:r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การขายที่ตามมา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57200" y="4535424"/>
            <a:ext cx="8229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pass-ups ของ downline ไหลขึ้นไปยัง Income Chains ของคุณ — สร้างรายได้ทีมที่ลึกไม่จำกัด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 Income Streams</dc:title>
  <dc:subject>PptxGenJS Presentation</dc:subject>
  <dc:creator>SuperAdPro</dc:creator>
  <cp:lastModifiedBy>SuperAdPro</cp:lastModifiedBy>
  <cp:revision>1</cp:revision>
  <dcterms:created xsi:type="dcterms:W3CDTF">2026-04-24T12:15:32Z</dcterms:created>
  <dcterms:modified xsi:type="dcterms:W3CDTF">2026-04-24T12:15:32Z</dcterms:modified>
</cp:coreProperties>
</file>