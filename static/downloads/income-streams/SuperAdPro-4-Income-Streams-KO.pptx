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9AA6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재정적 자유로 가는 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4가지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-1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SuperAdPro로 돈을 버는 4가지 방법. 조합하세요 — 각 수입원이 결과를 배가시킵니다.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멤버십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3DA5FF">
              <a:alpha val="18000"/>
            </a:srgbClr>
          </a:solidFill>
          <a:ln w="9525">
            <a:solidFill>
              <a:srgbClr val="3DA5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$17.50/월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06624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06624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06624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43784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4ADE80">
              <a:alpha val="18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43784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$103,976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54296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54296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91456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C084FC">
              <a:alpha val="18000"/>
            </a:srgbClr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91456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무제한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601968" y="3063240"/>
            <a:ext cx="1783080" cy="1143000"/>
          </a:xfrm>
          <a:prstGeom prst="roundRect">
            <a:avLst>
              <a:gd name="adj" fmla="val 8000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1968" y="31546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01968" y="33832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39128" y="3931920"/>
            <a:ext cx="1508760" cy="228600"/>
          </a:xfrm>
          <a:prstGeom prst="roundRect">
            <a:avLst>
              <a:gd name="adj" fmla="val 20000"/>
            </a:avLst>
          </a:prstGeom>
          <a:solidFill>
            <a:srgbClr val="FB923C">
              <a:alpha val="18000"/>
            </a:srgbClr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9319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커미션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마케팅 도구  ·  암호화폐 결제  ·  글로벌 기회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멤버십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매달 50% 정기 커미션 획득 — 또는 추천인이 연간을 선택하면 선불로. Pro 추천 2명이면 멤버십이 자동으로 충당됩니다.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매월 정기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추천당 $10/월 · Pro당 $17.50/월. 활성 상태인 매월.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무제한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무제한 추천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 인원 제한 없음. Pro 10명 = $175/월. 한계 없이 확장.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충당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추천 2명이 월 회비를 커버. 나머지는 모두 순이익.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 — $17.50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/월 정기  ·  매월 지급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914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나의 추천 네트워크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1325880"/>
            <a:ext cx="640080" cy="64008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0" y="1325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1984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60336" y="2194560"/>
            <a:ext cx="18288" cy="3200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2514600"/>
            <a:ext cx="2331720" cy="18288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806440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601968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19088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1908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327648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27648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123176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40296" y="2606040"/>
            <a:ext cx="402336" cy="402336"/>
          </a:xfrm>
          <a:prstGeom prst="ellipse">
            <a:avLst/>
          </a:prstGeom>
          <a:solidFill>
            <a:srgbClr val="122347"/>
          </a:solidFill>
          <a:ln w="19050">
            <a:solidFill>
              <a:srgbClr val="3DA5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40296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848856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+$17.50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48856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644384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61504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61504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7370064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70064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165592" y="2532888"/>
            <a:ext cx="18288" cy="91440"/>
          </a:xfrm>
          <a:prstGeom prst="rect">
            <a:avLst/>
          </a:prstGeom>
          <a:solidFill>
            <a:srgbClr val="3DA5FF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82712" y="2606040"/>
            <a:ext cx="402336" cy="402336"/>
          </a:xfrm>
          <a:prstGeom prst="ellipse">
            <a:avLst/>
          </a:prstGeom>
          <a:solidFill>
            <a:srgbClr val="1A2544">
              <a:alpha val="70000"/>
            </a:srgbClr>
          </a:solidFill>
          <a:ln w="19050">
            <a:solidFill>
              <a:srgbClr val="8896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82712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891272" y="302666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+$?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891272" y="320040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669280" y="3520440"/>
            <a:ext cx="3200400" cy="1005840"/>
          </a:xfrm>
          <a:prstGeom prst="roundRect">
            <a:avLst>
              <a:gd name="adj" fmla="val 7273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0" y="35661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월 수입 · 추천 3명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669280" y="38130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3명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/월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669280" y="415137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3명   </a:t>
            </a:r>
            <a:pPr algn="ctr"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$52.50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/월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669280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커미션은 본인 티어로 지급 — 업그레이드하면 더 높은 율.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3DA5FF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3DA5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3DA5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1  ·  작동 방식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= </a:t>
            </a:r>
            <a:pPr indent="0" marL="0">
              <a:buNone/>
            </a:pPr>
            <a:r>
              <a:rPr lang="en-US" sz="3000" b="1" spc="-5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즉시 현금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추천인이 연간을 선택하면 등록 당일 1년 전체 커미션 획득 — 12개월 분할 아님. 진짜 돈, 지금, 지갑에.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12700">
            <a:solidFill>
              <a:srgbClr val="1E37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월간 플랜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추천 10명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/월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720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매월 지급, 활성 상태인 한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pPr algn="ctr"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$2,100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12개월 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122347"/>
          </a:solidFill>
          <a:ln w="25400">
            <a:solidFill>
              <a:srgbClr val="3DA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2313432"/>
            <a:ext cx="960120" cy="256032"/>
          </a:xfrm>
          <a:prstGeom prst="roundRect">
            <a:avLst>
              <a:gd name="adj" fmla="val 28571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2313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0A1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최고 혜택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0" y="25328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플랜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0" y="27340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추천 10명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$1,750</a:t>
            </a:r>
            <a:pPr algn="ctr" indent="0" marL="0">
              <a:buNone/>
            </a:pPr>
            <a:r>
              <a:rPr lang="en-US" sz="13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선불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4754880" y="35021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등록 당일 지급 — 1년 전체 커미션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0" y="375818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추가로: </a:t>
            </a:r>
            <a:pPr algn="ctr" indent="0" marL="0">
              <a:buNone/>
            </a:pPr>
            <a:r>
              <a:rPr lang="en-US" sz="105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매년 갱신</a:t>
            </a:r>
            <a:pPr algn="ctr" indent="0" marL="0">
              <a:buNone/>
            </a:pPr>
            <a:r>
              <a:rPr lang="en-US" sz="10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다시 수익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434840"/>
            <a:ext cx="8229600" cy="347472"/>
          </a:xfrm>
          <a:prstGeom prst="roundRect">
            <a:avLst>
              <a:gd name="adj" fmla="val 50000"/>
            </a:avLst>
          </a:prstGeom>
          <a:solidFill>
            <a:srgbClr val="122347"/>
          </a:solidFill>
          <a:ln w="12700">
            <a:solidFill>
              <a:srgbClr val="3DA5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34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= </a:t>
            </a:r>
            <a:pPr algn="ctr" indent="0" marL="0">
              <a:buNone/>
            </a:pPr>
            <a:r>
              <a:rPr lang="en-US" sz="1300" b="1" dirty="0">
                <a:solidFill>
                  <a:srgbClr val="3D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$1,750 손에</a:t>
            </a:r>
            <a:pPr algn="ctr" indent="0" marL="0">
              <a:buNone/>
            </a:pPr>
            <a:r>
              <a:rPr lang="en-US" sz="100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대  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12개월 기다려서 같은 금액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추천인이 본인과 같은 티어를 활성화할 때마다 즉시 40% 획득 — 그리고 8레벨 그리드의 각 위치에서 6.25%. 64개 모두 채우고 완성 보너스, 리셋, 반복.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커미션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티어를 활성화하는 각 추천인이 즉시 티어 가격의 40% 지급.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6.25%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× 8레벨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8×8 그리드의 각 위치에서 수익 — 8레벨 깊이까지.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 보너스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64개 위치를 모두 채우면 보너스. 그리드 리셋 — 무제한 정기 수입.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0F2E23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$103,976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그리드 리셋 및 반복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나의 8×8 수입 그리드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893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2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6294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294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4944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6948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6948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8952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0956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12344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8932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6294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29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4944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6948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948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58952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0956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29600" y="15544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9893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893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3093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6294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2940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4944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726948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952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90956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29600" y="18745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893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8932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3093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936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6294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294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94944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26948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58952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0956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29600" y="219456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893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98932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3093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30936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66294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94944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26948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58952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90956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29600" y="251460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9893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4ADE80">
              <a:alpha val="50000"/>
            </a:srgbClr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98932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3093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294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4944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26948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58952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90956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229600" y="283464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9893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3093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294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4944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6948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58952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90956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229600" y="315468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9893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3093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6294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94944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6948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8952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956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29600" y="34747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0F2E23"/>
          </a:solidFill>
          <a:ln w="6350">
            <a:solidFill>
              <a:srgbClr val="1C443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0" y="39136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위치 = 활성 멤버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5669280" y="416052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0F2E23"/>
          </a:solidFill>
          <a:ln w="12700">
            <a:solidFill>
              <a:srgbClr val="1C443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6692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티어  ·  $20 → $1,000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5669280" y="4379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→ $50 → $100 → $200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5669280" y="45811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→ $600 → $800 → $1,000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2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4ADE80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4ADE80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4AD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2  ·  작동 방식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추천,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완전 사이클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시나리오: 64명의 개인 추천이 같은 티어 활성화. 티어별 수입 — 그리고 8티어 누적.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8229600" cy="210312"/>
          </a:xfrm>
          <a:prstGeom prst="rect">
            <a:avLst/>
          </a:prstGeom>
          <a:solidFill>
            <a:srgbClr val="0F2E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티어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2860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0312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(40%)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6616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UNI-LEVEL (6.25%)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94960" y="228600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0" y="228600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/ 사이클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496312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963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249631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0312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$512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6616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94960" y="249631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858000" y="24963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$656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27066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97280" y="270662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0312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56616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4960" y="270662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0" y="270662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$1,640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2916936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91693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97280" y="291693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10312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56616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94960" y="291693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$320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0" y="291693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$3,280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" y="312724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3127248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0312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$5,120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56616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394960" y="31272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$640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858000" y="312724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$6,560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" y="3337560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3375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097280" y="33375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10312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$10,240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56616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$1,600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394960" y="3337560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$1,280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858000" y="3337560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$13,120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" y="354787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T6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097280" y="3547872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$15,360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56616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$2,400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394960" y="3547872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$1,920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858000" y="354787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$19,680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57200" y="3758184"/>
            <a:ext cx="8229600" cy="210312"/>
          </a:xfrm>
          <a:prstGeom prst="rect">
            <a:avLst/>
          </a:prstGeom>
          <a:solidFill>
            <a:srgbClr val="0F2E23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375818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T7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1097280" y="3758184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$800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$20,480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56616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394960" y="3758184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$2,560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858000" y="3758184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$26,240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57200" y="3968496"/>
            <a:ext cx="8229600" cy="210312"/>
          </a:xfrm>
          <a:prstGeom prst="rect">
            <a:avLst/>
          </a:prstGeom>
          <a:solidFill>
            <a:srgbClr val="4ADE80">
              <a:alpha val="25000"/>
            </a:srgbClr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9684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T8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97280" y="3968496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210312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$25,600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356616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394960" y="396849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$3,200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858000" y="3968496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$32,800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57200" y="4389120"/>
            <a:ext cx="8229600" cy="411480"/>
          </a:xfrm>
          <a:prstGeom prst="roundRect">
            <a:avLst>
              <a:gd name="adj" fmla="val 44444"/>
            </a:avLst>
          </a:prstGeom>
          <a:solidFill>
            <a:srgbClr val="0F2E23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4389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8티어 전체 누적 합계   </a:t>
            </a:r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$103,976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그리드 리셋 및 반복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3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추천인 — 또는 매트릭스의 누구든 — 이 Creative Studio용 크레딧 팩을 구매하면 수익. 직접 15%, spillover 10%, 완성 보너스 10%. 티어 소유 불필요.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추천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본인이 직접 추천한 사람이 구매한 각 크레딧 팩.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SPILLOVER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매트릭스 내 직접 추천이 아닌 사람이 구매한 각 팩.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 보너스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3×3 매트릭스가 채워지면(39 위치) 보너스. 리셋, 반복.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무제한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매트릭스는 영원히 리셋 및 반복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69280" y="868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나의 수익 NEXUS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15000" y="1234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15000" y="1463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92240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967728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7728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443216" y="12344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084FC">
              <a:alpha val="60000"/>
            </a:srgbClr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4321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715000" y="1920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715000" y="2148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29984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67728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11550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443216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783080"/>
            <a:ext cx="201168" cy="274320"/>
          </a:xfrm>
          <a:prstGeom prst="roundRect">
            <a:avLst>
              <a:gd name="adj" fmla="val 18182"/>
            </a:avLst>
          </a:prstGeom>
          <a:solidFill>
            <a:srgbClr val="281862">
              <a:alpha val="70000"/>
            </a:srgbClr>
          </a:solidFill>
          <a:ln w="9525">
            <a:solidFill>
              <a:srgbClr val="3B247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15000" y="2788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9224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1169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93115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70064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89520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08976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028432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47888" y="233172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9224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1169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3115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5060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370064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89520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08976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28432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47888" y="251460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9224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1169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3115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5060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70064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89520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08976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28432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47888" y="2697480"/>
            <a:ext cx="182880" cy="146304"/>
          </a:xfrm>
          <a:prstGeom prst="rect">
            <a:avLst/>
          </a:prstGeom>
          <a:solidFill>
            <a:srgbClr val="281862">
              <a:alpha val="80000"/>
            </a:srgbClr>
          </a:solidFill>
          <a:ln w="6350">
            <a:solidFill>
              <a:srgbClr val="3B247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0" y="2999232"/>
            <a:ext cx="3200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+ 9 + 27 = 매트릭스당 39 위치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669280" y="3246120"/>
            <a:ext cx="3200400" cy="1280160"/>
          </a:xfrm>
          <a:prstGeom prst="roundRect">
            <a:avLst>
              <a:gd name="adj" fmla="val 5714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0" y="3291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독립 팩 티어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669280" y="3502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  $50  $100  $200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5669280" y="37398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  $600  $800  $1,000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669280" y="40050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팩은 자체 매트릭스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66928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티어 소유 불필요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C084F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C084F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C084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3  ·  작동 방식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사용되고, </a:t>
            </a:r>
            <a:pPr indent="0" marL="0">
              <a:buNone/>
            </a:pPr>
            <a:r>
              <a:rPr lang="en-US" sz="3000" b="1" spc="-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구매됩니다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크레딧 팩은 Creative Studio(AI 비디오, 이미지, 음성)에서 소비됩니다. 떨어지면 재구매 — 각 새 구매마다 다시 커미션. 이것이 재구매 엔진.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331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5331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크레딧 구매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438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추천인이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크레딧 팩 구매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6430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7462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7462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 발생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6606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직접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매트릭스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7598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68630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7667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8630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크레딧 소비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774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도구에서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크레딧 사용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87668" y="2788920"/>
            <a:ext cx="228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97980" y="2788920"/>
            <a:ext cx="1783080" cy="1097280"/>
          </a:xfrm>
          <a:prstGeom prst="roundRect">
            <a:avLst>
              <a:gd name="adj" fmla="val 8333"/>
            </a:avLst>
          </a:prstGeom>
          <a:solidFill>
            <a:srgbClr val="211550"/>
          </a:solidFill>
          <a:ln w="19050">
            <a:solidFill>
              <a:srgbClr val="C084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2587752"/>
            <a:ext cx="402336" cy="402336"/>
          </a:xfrm>
          <a:prstGeom prst="ellipse">
            <a:avLst/>
          </a:prstGeom>
          <a:solidFill>
            <a:srgbClr val="C084FC"/>
          </a:solidFill>
          <a:ln w="25400">
            <a:solidFill>
              <a:srgbClr val="1A0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88352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69798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89420" y="33558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재구매 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수익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211550"/>
          </a:solidFill>
          <a:ln w="12700">
            <a:solidFill>
              <a:srgbClr val="3B24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 · $200 팩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297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직접 × $30 (15%) + 9 L2 × $20 (10%) + 27 L3 × $20 (10%) + 완성 $780 = </a:t>
            </a:r>
            <a:pPr algn="ctr"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$1,590</a:t>
            </a:r>
            <a:pPr algn="ctr" indent="0" marL="0"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매트릭스 사이클당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754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많은 크레딧이 필요해지면 사이클이 다시 시작 — 각 구매는 새 매트릭스 충전.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 프리미엄 코스 재판매. 획득한 각 판매의 100% 유지 — 단 4번의 pass-up으로 업라인의 Income Chains 오픈. 판매 8 이후, 모든 판매는 영원히 본인 것.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175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0540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판매에서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508760" y="32004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해당 티어에서 자격 시 각 판매에 전액 커미션.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56432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4564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PASS-UP 총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508760" y="363931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2, 4, 6, 8만 pass-up. 판매 9부터는 모두 본인 것.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5029200" cy="384048"/>
          </a:xfrm>
          <a:prstGeom prst="roundRect">
            <a:avLst>
              <a:gd name="adj" fmla="val 19048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953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393192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다중 티어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티어를 소유해 자격. 높은 티어 = 큰 커미션.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5029200" cy="347472"/>
          </a:xfrm>
          <a:prstGeom prst="roundRect">
            <a:avLst>
              <a:gd name="adj" fmla="val 50000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4348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커미션</a:t>
            </a:r>
            <a:pPr algn="ctr" indent="0" marL="0">
              <a:buNone/>
            </a:pPr>
            <a:r>
              <a:rPr lang="en-US" sz="9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Income Chains를 통한 무한 연쇄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914400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88152" y="1060704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88152" y="1060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55080" y="1024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55080" y="1280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입문 레벨 코스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1000" y="106070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0" y="1719072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88152" y="1865376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88152" y="1865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550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55080" y="20848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중급 레벨 코스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001000" y="186537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669280" y="2523744"/>
            <a:ext cx="3200400" cy="713232"/>
          </a:xfrm>
          <a:prstGeom prst="roundRect">
            <a:avLst>
              <a:gd name="adj" fmla="val 10256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88152" y="2670048"/>
            <a:ext cx="420624" cy="420624"/>
          </a:xfrm>
          <a:prstGeom prst="ellipse">
            <a:avLst/>
          </a:prstGeom>
          <a:solidFill>
            <a:srgbClr val="FB923C">
              <a:alpha val="30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88152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55080" y="26334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55080" y="28895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상급 레벨 코스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8001000" y="267004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69280" y="3474720"/>
            <a:ext cx="3200400" cy="1097280"/>
          </a:xfrm>
          <a:prstGeom prst="roundRect">
            <a:avLst>
              <a:gd name="adj" fmla="val 6667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CHAINS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715000" y="376732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pass-up은 위로 Income Chain을 엽니다.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15000" y="40050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다운라인이 pass-up하면, 그 chains을 받음 — 위로 무한 연쇄.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0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71800" y="-1600200"/>
            <a:ext cx="6858000" cy="6858000"/>
          </a:xfrm>
          <a:prstGeom prst="ellipse">
            <a:avLst/>
          </a:prstGeom>
          <a:solidFill>
            <a:srgbClr val="FB923C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00200" y="-228600"/>
            <a:ext cx="4114800" cy="4114800"/>
          </a:xfrm>
          <a:prstGeom prst="ellipse">
            <a:avLst/>
          </a:prstGeom>
          <a:solidFill>
            <a:srgbClr val="FB923C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56032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B9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56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</a:t>
            </a:r>
            <a:pPr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수입원 4  ·  작동 방식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1+UP PASS-UP </a:t>
            </a:r>
            <a:pPr indent="0" marL="0">
              <a:buNone/>
            </a:pPr>
            <a:r>
              <a:rPr lang="en-US" sz="3000" b="1" spc="-50" kern="0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작동 방식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4번의 pass-up만. 판매 2, 4, 6, 8이 pass-up — 업라인의 Income Chains를 염. 판매 9 및 이후 포함, 그 외 모든 판매는 100% 본인 것.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891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91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3385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3385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3385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3385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1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82880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82880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2880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52374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374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52374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52374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2374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2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21868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1868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1868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21868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1868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91363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1363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91363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91363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1363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3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0857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FB923C">
              <a:alpha val="70000"/>
            </a:srgbClr>
          </a:solidFill>
          <a:ln w="190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0857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60857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460857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0857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303520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3A121C"/>
          </a:solidFill>
          <a:ln w="12700">
            <a:solidFill>
              <a:srgbClr val="5A1E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0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889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303520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303520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303520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4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998464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98464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5998464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998464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998464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693408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93408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693408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693408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693408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388352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88352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88352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#11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388352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388352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083296" y="2560320"/>
            <a:ext cx="621792" cy="1051560"/>
          </a:xfrm>
          <a:prstGeom prst="roundRect">
            <a:avLst>
              <a:gd name="adj" fmla="val 11765"/>
            </a:avLst>
          </a:prstGeom>
          <a:solidFill>
            <a:srgbClr val="4ADE80">
              <a:alpha val="70000"/>
            </a:srgbClr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83296" y="2633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8083296" y="2761488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083296" y="309067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083296" y="336499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57200" y="3794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모든 판매는 영원히 100% 본인 것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" y="4023360"/>
            <a:ext cx="8229600" cy="758952"/>
          </a:xfrm>
          <a:prstGeom prst="roundRect">
            <a:avLst>
              <a:gd name="adj" fmla="val 12048"/>
            </a:avLst>
          </a:prstGeom>
          <a:solidFill>
            <a:srgbClr val="3A121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0690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57200" y="42976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위로 4개의 Income Chains를 열기 위해 4 판매 양도  ·  그 다음 유지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이후의</a:t>
            </a:r>
            <a:pPr algn="ctr" indent="0" marL="0">
              <a:buNone/>
            </a:pPr>
            <a:r>
              <a:rPr lang="en-US" sz="1100" dirty="0">
                <a:solidFill>
                  <a:srgbClr val="D5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모든 판매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57200" y="4535424"/>
            <a:ext cx="8229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C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다운라인의 pass-ups가 내 Income Chains를 타고 올라감 — 무한 깊이 팀 수입 창출.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Income Streams</dc:title>
  <dc:subject>PptxGenJS Presentation</dc:subject>
  <dc:creator>SuperAdPro</dc:creator>
  <cp:lastModifiedBy>SuperAdPro</cp:lastModifiedBy>
  <cp:revision>1</cp:revision>
  <dcterms:created xsi:type="dcterms:W3CDTF">2026-04-24T12:15:29Z</dcterms:created>
  <dcterms:modified xsi:type="dcterms:W3CDTF">2026-04-24T12:15:29Z</dcterms:modified>
</cp:coreProperties>
</file>