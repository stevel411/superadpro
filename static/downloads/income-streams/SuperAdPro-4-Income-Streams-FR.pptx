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2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971800" y="-1600200"/>
            <a:ext cx="6858000" cy="6858000"/>
          </a:xfrm>
          <a:prstGeom prst="ellipse">
            <a:avLst/>
          </a:prstGeom>
          <a:solidFill>
            <a:srgbClr val="3DA5FF">
              <a:alpha val="6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600200" y="-228600"/>
            <a:ext cx="4114800" cy="4114800"/>
          </a:xfrm>
          <a:prstGeom prst="ellipse">
            <a:avLst/>
          </a:prstGeom>
          <a:solidFill>
            <a:srgbClr val="3DA5FF">
              <a:alpha val="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256032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22C5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2560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25603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SuperAd</a:t>
            </a:r>
            <a:pPr indent="0" marL="0">
              <a:buNone/>
            </a:pPr>
            <a:r>
              <a:rPr lang="en-US" sz="14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640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600" kern="0" dirty="0">
                <a:solidFill>
                  <a:srgbClr val="9AA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VOTRE VOIE VERS LA LIBERTÉ FINANCIÈRE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10058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spc="-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SOURCES</a:t>
            </a:r>
            <a:endParaRPr lang="en-US" sz="5200" dirty="0"/>
          </a:p>
        </p:txBody>
      </p:sp>
      <p:sp>
        <p:nvSpPr>
          <p:cNvPr id="9" name="Text 7"/>
          <p:cNvSpPr/>
          <p:nvPr/>
        </p:nvSpPr>
        <p:spPr>
          <a:xfrm>
            <a:off x="457200" y="166420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0" b="1" spc="-100" kern="0" dirty="0">
                <a:solidFill>
                  <a:srgbClr val="FFC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REVENUS</a:t>
            </a:r>
            <a:endParaRPr lang="en-US" sz="5800" dirty="0"/>
          </a:p>
        </p:txBody>
      </p:sp>
      <p:sp>
        <p:nvSpPr>
          <p:cNvPr id="10" name="Text 8"/>
          <p:cNvSpPr/>
          <p:nvPr/>
        </p:nvSpPr>
        <p:spPr>
          <a:xfrm>
            <a:off x="1371600" y="242316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Quatre façons de gagner avec SuperAdPro. Combinez-les — chaque source multiplie vos résultats.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58952" y="3063240"/>
            <a:ext cx="1783080" cy="1143000"/>
          </a:xfrm>
          <a:prstGeom prst="roundRect">
            <a:avLst>
              <a:gd name="adj" fmla="val 8000"/>
            </a:avLst>
          </a:prstGeom>
          <a:solidFill>
            <a:srgbClr val="122347"/>
          </a:solidFill>
          <a:ln w="12700">
            <a:solidFill>
              <a:srgbClr val="1E376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58952" y="315468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3DA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1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58952" y="338328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Parrainages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Membres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96112" y="3931920"/>
            <a:ext cx="1508760" cy="228600"/>
          </a:xfrm>
          <a:prstGeom prst="roundRect">
            <a:avLst>
              <a:gd name="adj" fmla="val 20000"/>
            </a:avLst>
          </a:prstGeom>
          <a:solidFill>
            <a:srgbClr val="3DA5FF">
              <a:alpha val="18000"/>
            </a:srgbClr>
          </a:solidFill>
          <a:ln w="9525">
            <a:solidFill>
              <a:srgbClr val="3DA5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96112" y="3931920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DA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10 $ — 17,50 $/mois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2706624" y="3063240"/>
            <a:ext cx="1783080" cy="1143000"/>
          </a:xfrm>
          <a:prstGeom prst="roundRect">
            <a:avLst>
              <a:gd name="adj" fmla="val 8000"/>
            </a:avLst>
          </a:prstGeom>
          <a:solidFill>
            <a:srgbClr val="0F2E23"/>
          </a:solidFill>
          <a:ln w="12700">
            <a:solidFill>
              <a:srgbClr val="1C443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06624" y="315468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2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706624" y="338328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Campaign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Grid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2843784" y="3931920"/>
            <a:ext cx="1508760" cy="228600"/>
          </a:xfrm>
          <a:prstGeom prst="roundRect">
            <a:avLst>
              <a:gd name="adj" fmla="val 20000"/>
            </a:avLst>
          </a:prstGeom>
          <a:solidFill>
            <a:srgbClr val="4ADE80">
              <a:alpha val="18000"/>
            </a:srgbClr>
          </a:solidFill>
          <a:ln w="9525">
            <a:solidFill>
              <a:srgbClr val="4ADE8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843784" y="3931920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Maximum théorique : 103 976 $*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654296" y="3063240"/>
            <a:ext cx="1783080" cy="1143000"/>
          </a:xfrm>
          <a:prstGeom prst="roundRect">
            <a:avLst>
              <a:gd name="adj" fmla="val 8000"/>
            </a:avLst>
          </a:prstGeom>
          <a:solidFill>
            <a:srgbClr val="211550"/>
          </a:solidFill>
          <a:ln w="12700">
            <a:solidFill>
              <a:srgbClr val="3B247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54296" y="315468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3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654296" y="338328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Credit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Nexus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791456" y="3931920"/>
            <a:ext cx="1508760" cy="228600"/>
          </a:xfrm>
          <a:prstGeom prst="roundRect">
            <a:avLst>
              <a:gd name="adj" fmla="val 20000"/>
            </a:avLst>
          </a:prstGeom>
          <a:solidFill>
            <a:srgbClr val="C084FC">
              <a:alpha val="18000"/>
            </a:srgbClr>
          </a:solidFill>
          <a:ln w="9525">
            <a:solidFill>
              <a:srgbClr val="C084F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91456" y="3931920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Variable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6601968" y="3063240"/>
            <a:ext cx="1783080" cy="1143000"/>
          </a:xfrm>
          <a:prstGeom prst="roundRect">
            <a:avLst>
              <a:gd name="adj" fmla="val 8000"/>
            </a:avLst>
          </a:prstGeom>
          <a:solidFill>
            <a:srgbClr val="3A121C"/>
          </a:solidFill>
          <a:ln w="12700">
            <a:solidFill>
              <a:srgbClr val="5A1E2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601968" y="315468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4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601968" y="338328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Course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Academy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739128" y="3931920"/>
            <a:ext cx="1508760" cy="228600"/>
          </a:xfrm>
          <a:prstGeom prst="roundRect">
            <a:avLst>
              <a:gd name="adj" fmla="val 20000"/>
            </a:avLst>
          </a:prstGeom>
          <a:solidFill>
            <a:srgbClr val="FB923C">
              <a:alpha val="18000"/>
            </a:srgbClr>
          </a:solidFill>
          <a:ln w="9525">
            <a:solidFill>
              <a:srgbClr val="FB923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739128" y="3931920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de Commission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457200" y="45262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400" kern="0" dirty="0">
                <a:solidFill>
                  <a:srgbClr val="889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OUTILS IA  ·  PAIEMENTS CRYPTO  ·  OPPORTUNITÉ MONDIALE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971800" y="-1600200"/>
            <a:ext cx="6858000" cy="6858000"/>
          </a:xfrm>
          <a:prstGeom prst="ellipse">
            <a:avLst/>
          </a:prstGeom>
          <a:solidFill>
            <a:srgbClr val="3DA5FF">
              <a:alpha val="6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600200" y="-228600"/>
            <a:ext cx="4114800" cy="4114800"/>
          </a:xfrm>
          <a:prstGeom prst="ellipse">
            <a:avLst/>
          </a:prstGeom>
          <a:solidFill>
            <a:srgbClr val="3DA5FF">
              <a:alpha val="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256032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3DA5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2560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25603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SuperAd</a:t>
            </a:r>
            <a:pPr indent="0" marL="0">
              <a:buNone/>
            </a:pPr>
            <a:r>
              <a:rPr lang="en-US" sz="1400" b="1" dirty="0">
                <a:solidFill>
                  <a:srgbClr val="3DA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91440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500" kern="0" dirty="0">
                <a:solidFill>
                  <a:srgbClr val="3DA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DE REVENUS 1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57200" y="118872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-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PARRAINAGES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457200" y="169164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-50" kern="0" dirty="0">
                <a:solidFill>
                  <a:srgbClr val="3DA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MEMBRES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457200" y="2331720"/>
            <a:ext cx="5029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Gagnez 50% de commission récurrente chaque mois — ou encaissez d'avance quand votre filleul choisit l'annuel. Deux Pro et votre adhésion est payée.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3017520"/>
            <a:ext cx="5029200" cy="384048"/>
          </a:xfrm>
          <a:prstGeom prst="roundRect">
            <a:avLst>
              <a:gd name="adj" fmla="val 19048"/>
            </a:avLst>
          </a:prstGeom>
          <a:solidFill>
            <a:srgbClr val="122347"/>
          </a:solidFill>
          <a:ln w="12700">
            <a:solidFill>
              <a:srgbClr val="1E376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301752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DA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50%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508760" y="3054096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3DA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RÉCURRENT MENSUEL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1508760" y="3200400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10 $/mois par Basic · 17,50 $/mois par Pro. Chaque mois d'activité.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57200" y="3456432"/>
            <a:ext cx="5029200" cy="384048"/>
          </a:xfrm>
          <a:prstGeom prst="roundRect">
            <a:avLst>
              <a:gd name="adj" fmla="val 19048"/>
            </a:avLst>
          </a:prstGeom>
          <a:solidFill>
            <a:srgbClr val="122347"/>
          </a:solidFill>
          <a:ln w="12700">
            <a:solidFill>
              <a:srgbClr val="1E376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3456432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DA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ILL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508760" y="3493008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3DA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PARRAINAGES ILLIMITÉS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1508760" y="3639312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Aucune limite. 10 membres Pro = 175 $/mois. Évoluez sans plafond.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57200" y="3895344"/>
            <a:ext cx="5029200" cy="384048"/>
          </a:xfrm>
          <a:prstGeom prst="roundRect">
            <a:avLst>
              <a:gd name="adj" fmla="val 19048"/>
            </a:avLst>
          </a:prstGeom>
          <a:solidFill>
            <a:srgbClr val="122347"/>
          </a:solidFill>
          <a:ln w="12700">
            <a:solidFill>
              <a:srgbClr val="1E376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3895344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DA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2x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508760" y="3931920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3DA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S'AUTO-FINANCE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1508760" y="4078224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Deux Pro couvrent votre mensualité. Tout le reste est bénéfice.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57200" y="4434840"/>
            <a:ext cx="5029200" cy="347472"/>
          </a:xfrm>
          <a:prstGeom prst="roundRect">
            <a:avLst>
              <a:gd name="adj" fmla="val 50000"/>
            </a:avLst>
          </a:prstGeom>
          <a:solidFill>
            <a:srgbClr val="122347"/>
          </a:solidFill>
          <a:ln w="12700">
            <a:solidFill>
              <a:srgbClr val="3DA5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4360" y="4434840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DA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10 $ — 17,50 $</a:t>
            </a:r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/mois récurrent  ·  payé chaque mois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669280" y="9144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VOTRE RÉSEAU DE FILLEULS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949440" y="1325880"/>
            <a:ext cx="640080" cy="640080"/>
          </a:xfrm>
          <a:prstGeom prst="ellipse">
            <a:avLst/>
          </a:prstGeom>
          <a:solidFill>
            <a:srgbClr val="F59E0B"/>
          </a:solidFill>
          <a:ln w="25400">
            <a:solidFill>
              <a:srgbClr val="FCD34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949440" y="1325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C2D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6583680" y="198424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VOUS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7260336" y="2194560"/>
            <a:ext cx="18288" cy="320040"/>
          </a:xfrm>
          <a:prstGeom prst="rect">
            <a:avLst/>
          </a:prstGeom>
          <a:solidFill>
            <a:srgbClr val="3DA5FF">
              <a:alpha val="6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126480" y="2514600"/>
            <a:ext cx="2331720" cy="18288"/>
          </a:xfrm>
          <a:prstGeom prst="rect">
            <a:avLst/>
          </a:prstGeom>
          <a:solidFill>
            <a:srgbClr val="3DA5FF">
              <a:alpha val="6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080760" y="2532888"/>
            <a:ext cx="18288" cy="91440"/>
          </a:xfrm>
          <a:prstGeom prst="rect">
            <a:avLst/>
          </a:prstGeom>
          <a:solidFill>
            <a:srgbClr val="3DA5FF">
              <a:alpha val="6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897880" y="2606040"/>
            <a:ext cx="402336" cy="402336"/>
          </a:xfrm>
          <a:prstGeom prst="ellipse">
            <a:avLst/>
          </a:prstGeom>
          <a:solidFill>
            <a:srgbClr val="122347"/>
          </a:solidFill>
          <a:ln w="19050">
            <a:solidFill>
              <a:srgbClr val="3DA5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897880" y="26060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3DA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5806440" y="3026664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+$17.50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806440" y="3200400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9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6601968" y="2532888"/>
            <a:ext cx="18288" cy="91440"/>
          </a:xfrm>
          <a:prstGeom prst="rect">
            <a:avLst/>
          </a:prstGeom>
          <a:solidFill>
            <a:srgbClr val="3DA5FF">
              <a:alpha val="6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419088" y="2606040"/>
            <a:ext cx="402336" cy="402336"/>
          </a:xfrm>
          <a:prstGeom prst="ellipse">
            <a:avLst/>
          </a:prstGeom>
          <a:solidFill>
            <a:srgbClr val="122347"/>
          </a:solidFill>
          <a:ln w="19050">
            <a:solidFill>
              <a:srgbClr val="3DA5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19088" y="26060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3DA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6327648" y="3026664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+$10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327648" y="3200400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9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Basic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7123176" y="2532888"/>
            <a:ext cx="18288" cy="91440"/>
          </a:xfrm>
          <a:prstGeom prst="rect">
            <a:avLst/>
          </a:prstGeom>
          <a:solidFill>
            <a:srgbClr val="3DA5FF">
              <a:alpha val="6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940296" y="2606040"/>
            <a:ext cx="402336" cy="402336"/>
          </a:xfrm>
          <a:prstGeom prst="ellipse">
            <a:avLst/>
          </a:prstGeom>
          <a:solidFill>
            <a:srgbClr val="122347"/>
          </a:solidFill>
          <a:ln w="19050">
            <a:solidFill>
              <a:srgbClr val="3DA5F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940296" y="26060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3DA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800" dirty="0"/>
          </a:p>
        </p:txBody>
      </p:sp>
      <p:sp>
        <p:nvSpPr>
          <p:cNvPr id="44" name="Text 42"/>
          <p:cNvSpPr/>
          <p:nvPr/>
        </p:nvSpPr>
        <p:spPr>
          <a:xfrm>
            <a:off x="6848856" y="3026664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+$17.50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6848856" y="3200400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9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7644384" y="2532888"/>
            <a:ext cx="18288" cy="91440"/>
          </a:xfrm>
          <a:prstGeom prst="rect">
            <a:avLst/>
          </a:prstGeom>
          <a:solidFill>
            <a:srgbClr val="3DA5FF">
              <a:alpha val="6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461504" y="2606040"/>
            <a:ext cx="402336" cy="402336"/>
          </a:xfrm>
          <a:prstGeom prst="ellipse">
            <a:avLst/>
          </a:prstGeom>
          <a:solidFill>
            <a:srgbClr val="1A2544">
              <a:alpha val="70000"/>
            </a:srgbClr>
          </a:solidFill>
          <a:ln w="19050">
            <a:solidFill>
              <a:srgbClr val="8896B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461504" y="26060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89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800" dirty="0"/>
          </a:p>
        </p:txBody>
      </p:sp>
      <p:sp>
        <p:nvSpPr>
          <p:cNvPr id="49" name="Text 47"/>
          <p:cNvSpPr/>
          <p:nvPr/>
        </p:nvSpPr>
        <p:spPr>
          <a:xfrm>
            <a:off x="7370064" y="3026664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89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+$?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7370064" y="3200400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9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Suivant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8165592" y="2532888"/>
            <a:ext cx="18288" cy="91440"/>
          </a:xfrm>
          <a:prstGeom prst="rect">
            <a:avLst/>
          </a:prstGeom>
          <a:solidFill>
            <a:srgbClr val="3DA5FF">
              <a:alpha val="6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7982712" y="2606040"/>
            <a:ext cx="402336" cy="402336"/>
          </a:xfrm>
          <a:prstGeom prst="ellipse">
            <a:avLst/>
          </a:prstGeom>
          <a:solidFill>
            <a:srgbClr val="1A2544">
              <a:alpha val="70000"/>
            </a:srgbClr>
          </a:solidFill>
          <a:ln w="19050">
            <a:solidFill>
              <a:srgbClr val="8896B8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982712" y="26060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89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800" dirty="0"/>
          </a:p>
        </p:txBody>
      </p:sp>
      <p:sp>
        <p:nvSpPr>
          <p:cNvPr id="54" name="Text 52"/>
          <p:cNvSpPr/>
          <p:nvPr/>
        </p:nvSpPr>
        <p:spPr>
          <a:xfrm>
            <a:off x="7891272" y="3026664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89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+$?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7891272" y="3200400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9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Suivant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5669280" y="3520440"/>
            <a:ext cx="3200400" cy="1005840"/>
          </a:xfrm>
          <a:prstGeom prst="roundRect">
            <a:avLst>
              <a:gd name="adj" fmla="val 7273"/>
            </a:avLst>
          </a:prstGeom>
          <a:solidFill>
            <a:srgbClr val="122347"/>
          </a:solidFill>
          <a:ln w="12700">
            <a:solidFill>
              <a:srgbClr val="1E3766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669280" y="356616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3DA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VOTRE REVENU MENSUEL · 3 FILLEULS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5669280" y="381304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Basic   </a:t>
            </a:r>
            <a:pPr algn="ctr" indent="0" marL="0">
              <a:buNone/>
            </a:pPr>
            <a:r>
              <a:rPr lang="en-US" sz="18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30 $</a:t>
            </a:r>
            <a:pPr algn="ctr" indent="0" marL="0">
              <a:buNone/>
            </a:pPr>
            <a:r>
              <a:rPr lang="en-US" sz="10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/mois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5669280" y="4151376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Pro   </a:t>
            </a:r>
            <a:pPr algn="ctr" indent="0" marL="0">
              <a:buNone/>
            </a:pPr>
            <a:r>
              <a:rPr lang="en-US" sz="18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52,50 $</a:t>
            </a:r>
            <a:pPr algn="ctr" indent="0" marL="0">
              <a:buNone/>
            </a:pPr>
            <a:r>
              <a:rPr lang="en-US" sz="10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/mois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5669280" y="457200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889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Commissions payées à votre niveau — améliorez pour gagner plus.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971800" y="-1600200"/>
            <a:ext cx="6858000" cy="6858000"/>
          </a:xfrm>
          <a:prstGeom prst="ellipse">
            <a:avLst/>
          </a:prstGeom>
          <a:solidFill>
            <a:srgbClr val="3DA5FF">
              <a:alpha val="6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600200" y="-228600"/>
            <a:ext cx="4114800" cy="4114800"/>
          </a:xfrm>
          <a:prstGeom prst="ellipse">
            <a:avLst/>
          </a:prstGeom>
          <a:solidFill>
            <a:srgbClr val="3DA5FF">
              <a:alpha val="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256032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3DA5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2560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25603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SuperAd</a:t>
            </a:r>
            <a:pPr indent="0" marL="0">
              <a:buNone/>
            </a:pPr>
            <a:r>
              <a:rPr lang="en-US" sz="1400" b="1" dirty="0">
                <a:solidFill>
                  <a:srgbClr val="3DA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9144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500" kern="0" dirty="0">
                <a:solidFill>
                  <a:srgbClr val="3DA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DE REVENUS 1  ·  COMMENT ÇA MARCHE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57200" y="11887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-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ANNUEL = </a:t>
            </a:r>
            <a:pPr indent="0" marL="0">
              <a:buNone/>
            </a:pPr>
            <a:r>
              <a:rPr lang="en-US" sz="3000" b="1" spc="-50" kern="0" dirty="0">
                <a:solidFill>
                  <a:srgbClr val="3DA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CASH IMMÉDIAT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457200" y="17830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Quand votre filleul choisit l'annuel, vous gagnez la commission d'une année entière le jour de son inscription — pas étalée sur 12 mois. C'est de l'argent réel, maintenant.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423160"/>
            <a:ext cx="3931920" cy="1691640"/>
          </a:xfrm>
          <a:prstGeom prst="roundRect">
            <a:avLst>
              <a:gd name="adj" fmla="val 6486"/>
            </a:avLst>
          </a:prstGeom>
          <a:solidFill>
            <a:srgbClr val="122347"/>
          </a:solidFill>
          <a:ln w="12700">
            <a:solidFill>
              <a:srgbClr val="1E376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532888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300" kern="0" dirty="0">
                <a:solidFill>
                  <a:srgbClr val="889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MENSUEL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57200" y="2734056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Filleuls Pro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" y="3008376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175 $</a:t>
            </a:r>
            <a:pPr algn="ctr" indent="0" marL="0">
              <a:buNone/>
            </a:pPr>
            <a:r>
              <a:rPr lang="en-US" sz="13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/mois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457200" y="3502152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Payé chaque mois, tant qu'ils restent actifs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57200" y="3758184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</a:t>
            </a:r>
            <a:pPr algn="ctr" indent="0" marL="0">
              <a:buNone/>
            </a:pPr>
            <a:r>
              <a:rPr lang="en-US" sz="17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2 100 $</a:t>
            </a:r>
            <a:pPr algn="ctr" indent="0" marL="0">
              <a:buNone/>
            </a:pPr>
            <a:r>
              <a:rPr lang="en-US" sz="10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sur 12 mois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54880" y="2423160"/>
            <a:ext cx="3931920" cy="1691640"/>
          </a:xfrm>
          <a:prstGeom prst="roundRect">
            <a:avLst>
              <a:gd name="adj" fmla="val 6486"/>
            </a:avLst>
          </a:prstGeom>
          <a:solidFill>
            <a:srgbClr val="122347"/>
          </a:solidFill>
          <a:ln w="25400">
            <a:solidFill>
              <a:srgbClr val="3DA5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589520" y="2313432"/>
            <a:ext cx="960120" cy="256032"/>
          </a:xfrm>
          <a:prstGeom prst="roundRect">
            <a:avLst>
              <a:gd name="adj" fmla="val 28571"/>
            </a:avLst>
          </a:prstGeom>
          <a:solidFill>
            <a:srgbClr val="4ADE8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589520" y="2313432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0A1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MEILLEURE OFFRE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754880" y="2532888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300" kern="0" dirty="0">
                <a:solidFill>
                  <a:srgbClr val="3DA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ANNUEL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754880" y="2734056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Filleuls Pro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754880" y="3008376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1 750 $</a:t>
            </a:r>
            <a:pPr algn="ctr" indent="0" marL="0">
              <a:buNone/>
            </a:pPr>
            <a:r>
              <a:rPr lang="en-US" sz="13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d'avance</a:t>
            </a:r>
            <a:endParaRPr lang="en-US" sz="3400" dirty="0"/>
          </a:p>
        </p:txBody>
      </p:sp>
      <p:sp>
        <p:nvSpPr>
          <p:cNvPr id="22" name="Text 20"/>
          <p:cNvSpPr/>
          <p:nvPr/>
        </p:nvSpPr>
        <p:spPr>
          <a:xfrm>
            <a:off x="4754880" y="3502152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Payé le jour même de l'inscription — commission complète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754880" y="3758184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Plus: </a:t>
            </a:r>
            <a:pPr algn="ctr" indent="0" marL="0">
              <a:buNone/>
            </a:pPr>
            <a:r>
              <a:rPr lang="en-US" sz="1050" b="1" dirty="0">
                <a:solidFill>
                  <a:srgbClr val="3DA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ils renouvellent chaque année</a:t>
            </a:r>
            <a:pPr algn="ctr" indent="0" marL="0">
              <a:buNone/>
            </a:pPr>
            <a:r>
              <a:rPr lang="en-US" sz="10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vous gagnez à nouveau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57200" y="4434840"/>
            <a:ext cx="8229600" cy="347472"/>
          </a:xfrm>
          <a:prstGeom prst="roundRect">
            <a:avLst>
              <a:gd name="adj" fmla="val 50000"/>
            </a:avLst>
          </a:prstGeom>
          <a:solidFill>
            <a:srgbClr val="122347"/>
          </a:solidFill>
          <a:ln w="12700">
            <a:solidFill>
              <a:srgbClr val="3DA5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443484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Annuel = </a:t>
            </a:r>
            <a:pPr algn="ctr" indent="0" marL="0">
              <a:buNone/>
            </a:pPr>
            <a:r>
              <a:rPr lang="en-US" sz="1300" b="1" dirty="0">
                <a:solidFill>
                  <a:srgbClr val="3DA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1 750 $ en main aujourd'hui</a:t>
            </a:r>
            <a:pPr algn="ctr" indent="0" marL="0">
              <a:buNone/>
            </a:pPr>
            <a:r>
              <a:rPr lang="en-US" sz="1000" dirty="0">
                <a:solidFill>
                  <a:srgbClr val="889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vs  </a:t>
            </a:r>
            <a:pPr algn="ctr" indent="0" marL="0">
              <a:buNone/>
            </a:pPr>
            <a:r>
              <a:rPr lang="en-US" sz="11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attendre 12 mois pour la même somme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823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971800" y="-1600200"/>
            <a:ext cx="6858000" cy="6858000"/>
          </a:xfrm>
          <a:prstGeom prst="ellipse">
            <a:avLst/>
          </a:prstGeom>
          <a:solidFill>
            <a:srgbClr val="4ADE80">
              <a:alpha val="6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600200" y="-228600"/>
            <a:ext cx="4114800" cy="4114800"/>
          </a:xfrm>
          <a:prstGeom prst="ellipse">
            <a:avLst/>
          </a:prstGeom>
          <a:solidFill>
            <a:srgbClr val="4ADE80">
              <a:alpha val="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256032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4ADE8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2560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25603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SuperAd</a:t>
            </a:r>
            <a:pPr indent="0" marL="0">
              <a:buNone/>
            </a:pPr>
            <a:r>
              <a:rPr lang="en-US" sz="14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91440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500" kern="0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DE REVENUS 2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57200" y="118872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-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CAMPAIGN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457200" y="169164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-50" kern="0" dirty="0">
                <a:solidFill>
                  <a:srgbClr val="FFC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GRID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457200" y="2331720"/>
            <a:ext cx="5029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Chaque fois qu'un filleul active votre niveau, vous gagnez 40% instantanément — puis 6,25% sur chaque position de votre grille à 8 niveaux. Remplissez les 64, touchez le bonus, réinitialisez, répétez.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3017520"/>
            <a:ext cx="5029200" cy="384048"/>
          </a:xfrm>
          <a:prstGeom prst="roundRect">
            <a:avLst>
              <a:gd name="adj" fmla="val 19048"/>
            </a:avLst>
          </a:prstGeom>
          <a:solidFill>
            <a:srgbClr val="0F2E23"/>
          </a:solidFill>
          <a:ln w="12700">
            <a:solidFill>
              <a:srgbClr val="1C443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301752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40%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508760" y="3054096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FFC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COMMISSION DIRECTE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1508760" y="3200400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Chaque filleul activant votre niveau vous paie 40% instantanément.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57200" y="3456432"/>
            <a:ext cx="5029200" cy="384048"/>
          </a:xfrm>
          <a:prstGeom prst="roundRect">
            <a:avLst>
              <a:gd name="adj" fmla="val 19048"/>
            </a:avLst>
          </a:prstGeom>
          <a:solidFill>
            <a:srgbClr val="0F2E23"/>
          </a:solidFill>
          <a:ln w="12700">
            <a:solidFill>
              <a:srgbClr val="1C443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3456432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6,25%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508760" y="3493008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FFC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UNI-LEVEL × 8 NIVEAUX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1508760" y="3639312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Gagnez sur chaque position de votre grille 8×8 — 8 niveaux sous vous.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57200" y="3895344"/>
            <a:ext cx="5029200" cy="384048"/>
          </a:xfrm>
          <a:prstGeom prst="roundRect">
            <a:avLst>
              <a:gd name="adj" fmla="val 19048"/>
            </a:avLst>
          </a:prstGeom>
          <a:solidFill>
            <a:srgbClr val="0F2E23"/>
          </a:solidFill>
          <a:ln w="12700">
            <a:solidFill>
              <a:srgbClr val="1C443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3895344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508760" y="3931920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FFC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BONUS DE COMPLÉTION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1508760" y="4078224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Remplissez les 64 positions, touchez un bonus. La grille se réinitialise — revenus récurrents tant que les membres restent actifs.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57200" y="4434840"/>
            <a:ext cx="5029200" cy="347472"/>
          </a:xfrm>
          <a:prstGeom prst="roundRect">
            <a:avLst>
              <a:gd name="adj" fmla="val 50000"/>
            </a:avLst>
          </a:prstGeom>
          <a:solidFill>
            <a:srgbClr val="0F2E23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4360" y="4434840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Maximum théorique : 103 976 $*</a:t>
            </a:r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les grilles se réinitialisent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5669280" y="8686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VOTRE GRILLE DE REVENUS 8×8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989320" y="123444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F59E0B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89320" y="12344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C2D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309360" y="123444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4ADE80">
              <a:alpha val="50000"/>
            </a:srgbClr>
          </a:solidFill>
          <a:ln w="9525">
            <a:solidFill>
              <a:srgbClr val="4ADE8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09360" y="12344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629400" y="123444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4ADE80">
              <a:alpha val="50000"/>
            </a:srgbClr>
          </a:solidFill>
          <a:ln w="9525">
            <a:solidFill>
              <a:srgbClr val="4ADE8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629400" y="12344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949440" y="123444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4ADE80">
              <a:alpha val="50000"/>
            </a:srgbClr>
          </a:solidFill>
          <a:ln w="9525">
            <a:solidFill>
              <a:srgbClr val="4ADE8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949440" y="12344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7269480" y="123444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4ADE80">
              <a:alpha val="50000"/>
            </a:srgbClr>
          </a:solidFill>
          <a:ln w="9525">
            <a:solidFill>
              <a:srgbClr val="4ADE8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269480" y="12344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7589520" y="123444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4ADE80">
              <a:alpha val="50000"/>
            </a:srgbClr>
          </a:solidFill>
          <a:ln w="9525">
            <a:solidFill>
              <a:srgbClr val="4ADE8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589520" y="12344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7909560" y="123444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229600" y="123444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989320" y="155448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4ADE80">
              <a:alpha val="50000"/>
            </a:srgbClr>
          </a:solidFill>
          <a:ln w="9525">
            <a:solidFill>
              <a:srgbClr val="4ADE8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989320" y="1554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6309360" y="155448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4ADE80">
              <a:alpha val="50000"/>
            </a:srgbClr>
          </a:solidFill>
          <a:ln w="9525">
            <a:solidFill>
              <a:srgbClr val="4ADE8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309360" y="1554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6629400" y="155448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4ADE80">
              <a:alpha val="50000"/>
            </a:srgbClr>
          </a:solidFill>
          <a:ln w="9525">
            <a:solidFill>
              <a:srgbClr val="4ADE8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629400" y="1554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6949440" y="155448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4ADE80">
              <a:alpha val="50000"/>
            </a:srgbClr>
          </a:solidFill>
          <a:ln w="9525">
            <a:solidFill>
              <a:srgbClr val="4ADE8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949440" y="1554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7269480" y="155448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4ADE80">
              <a:alpha val="50000"/>
            </a:srgbClr>
          </a:solidFill>
          <a:ln w="9525">
            <a:solidFill>
              <a:srgbClr val="4ADE8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269480" y="1554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7589520" y="155448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7909560" y="155448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8229600" y="155448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5989320" y="187452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4ADE80">
              <a:alpha val="50000"/>
            </a:srgbClr>
          </a:solidFill>
          <a:ln w="9525">
            <a:solidFill>
              <a:srgbClr val="4ADE8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989320" y="18745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6309360" y="187452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4ADE80">
              <a:alpha val="50000"/>
            </a:srgbClr>
          </a:solidFill>
          <a:ln w="9525">
            <a:solidFill>
              <a:srgbClr val="4ADE8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309360" y="18745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00" dirty="0"/>
          </a:p>
        </p:txBody>
      </p:sp>
      <p:sp>
        <p:nvSpPr>
          <p:cNvPr id="57" name="Shape 55"/>
          <p:cNvSpPr/>
          <p:nvPr/>
        </p:nvSpPr>
        <p:spPr>
          <a:xfrm>
            <a:off x="6629400" y="187452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4ADE80">
              <a:alpha val="50000"/>
            </a:srgbClr>
          </a:solidFill>
          <a:ln w="9525">
            <a:solidFill>
              <a:srgbClr val="4ADE8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629400" y="18745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00" dirty="0"/>
          </a:p>
        </p:txBody>
      </p:sp>
      <p:sp>
        <p:nvSpPr>
          <p:cNvPr id="59" name="Shape 57"/>
          <p:cNvSpPr/>
          <p:nvPr/>
        </p:nvSpPr>
        <p:spPr>
          <a:xfrm>
            <a:off x="6949440" y="187452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4ADE80">
              <a:alpha val="50000"/>
            </a:srgbClr>
          </a:solidFill>
          <a:ln w="9525">
            <a:solidFill>
              <a:srgbClr val="4ADE8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949440" y="18745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00" dirty="0"/>
          </a:p>
        </p:txBody>
      </p:sp>
      <p:sp>
        <p:nvSpPr>
          <p:cNvPr id="61" name="Shape 59"/>
          <p:cNvSpPr/>
          <p:nvPr/>
        </p:nvSpPr>
        <p:spPr>
          <a:xfrm>
            <a:off x="7269480" y="187452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7589520" y="187452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909560" y="187452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229600" y="187452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5989320" y="219456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4ADE80">
              <a:alpha val="50000"/>
            </a:srgbClr>
          </a:solidFill>
          <a:ln w="9525">
            <a:solidFill>
              <a:srgbClr val="4ADE8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5989320" y="21945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00" dirty="0"/>
          </a:p>
        </p:txBody>
      </p:sp>
      <p:sp>
        <p:nvSpPr>
          <p:cNvPr id="67" name="Shape 65"/>
          <p:cNvSpPr/>
          <p:nvPr/>
        </p:nvSpPr>
        <p:spPr>
          <a:xfrm>
            <a:off x="6309360" y="219456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4ADE80">
              <a:alpha val="50000"/>
            </a:srgbClr>
          </a:solidFill>
          <a:ln w="9525">
            <a:solidFill>
              <a:srgbClr val="4ADE8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6309360" y="21945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00" dirty="0"/>
          </a:p>
        </p:txBody>
      </p:sp>
      <p:sp>
        <p:nvSpPr>
          <p:cNvPr id="69" name="Shape 67"/>
          <p:cNvSpPr/>
          <p:nvPr/>
        </p:nvSpPr>
        <p:spPr>
          <a:xfrm>
            <a:off x="6629400" y="219456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4ADE80">
              <a:alpha val="50000"/>
            </a:srgbClr>
          </a:solidFill>
          <a:ln w="9525">
            <a:solidFill>
              <a:srgbClr val="4ADE80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6629400" y="21945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00" dirty="0"/>
          </a:p>
        </p:txBody>
      </p:sp>
      <p:sp>
        <p:nvSpPr>
          <p:cNvPr id="71" name="Shape 69"/>
          <p:cNvSpPr/>
          <p:nvPr/>
        </p:nvSpPr>
        <p:spPr>
          <a:xfrm>
            <a:off x="6949440" y="219456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7269480" y="219456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7589520" y="219456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7909560" y="219456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8229600" y="219456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5989320" y="251460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4ADE80">
              <a:alpha val="50000"/>
            </a:srgbClr>
          </a:solidFill>
          <a:ln w="9525">
            <a:solidFill>
              <a:srgbClr val="4ADE80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5989320" y="25146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00" dirty="0"/>
          </a:p>
        </p:txBody>
      </p:sp>
      <p:sp>
        <p:nvSpPr>
          <p:cNvPr id="78" name="Shape 76"/>
          <p:cNvSpPr/>
          <p:nvPr/>
        </p:nvSpPr>
        <p:spPr>
          <a:xfrm>
            <a:off x="6309360" y="251460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4ADE80">
              <a:alpha val="50000"/>
            </a:srgbClr>
          </a:solidFill>
          <a:ln w="9525">
            <a:solidFill>
              <a:srgbClr val="4ADE80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6309360" y="25146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00" dirty="0"/>
          </a:p>
        </p:txBody>
      </p:sp>
      <p:sp>
        <p:nvSpPr>
          <p:cNvPr id="80" name="Shape 78"/>
          <p:cNvSpPr/>
          <p:nvPr/>
        </p:nvSpPr>
        <p:spPr>
          <a:xfrm>
            <a:off x="6629400" y="251460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6949440" y="251460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7269480" y="251460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7589520" y="251460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7909560" y="251460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8229600" y="251460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5989320" y="283464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4ADE80">
              <a:alpha val="50000"/>
            </a:srgbClr>
          </a:solidFill>
          <a:ln w="9525">
            <a:solidFill>
              <a:srgbClr val="4ADE80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5989320" y="28346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00" dirty="0"/>
          </a:p>
        </p:txBody>
      </p:sp>
      <p:sp>
        <p:nvSpPr>
          <p:cNvPr id="88" name="Shape 86"/>
          <p:cNvSpPr/>
          <p:nvPr/>
        </p:nvSpPr>
        <p:spPr>
          <a:xfrm>
            <a:off x="6309360" y="283464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6629400" y="283464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6949440" y="283464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7269480" y="283464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7589520" y="283464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7909560" y="283464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8229600" y="283464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5989320" y="315468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6309360" y="315468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6629400" y="315468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6949440" y="315468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7269480" y="315468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7589520" y="315468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7909560" y="315468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8229600" y="315468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5989320" y="347472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6309360" y="347472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6629400" y="347472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6949440" y="347472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7269480" y="347472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7589520" y="347472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7909560" y="347472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8229600" y="347472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5669280" y="391363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Chaque position = un membre actif</a:t>
            </a:r>
            <a:endParaRPr lang="en-US" sz="850" dirty="0"/>
          </a:p>
        </p:txBody>
      </p:sp>
      <p:sp>
        <p:nvSpPr>
          <p:cNvPr id="112" name="Shape 110"/>
          <p:cNvSpPr/>
          <p:nvPr/>
        </p:nvSpPr>
        <p:spPr>
          <a:xfrm>
            <a:off x="5669280" y="4160520"/>
            <a:ext cx="3200400" cy="640080"/>
          </a:xfrm>
          <a:prstGeom prst="roundRect">
            <a:avLst>
              <a:gd name="adj" fmla="val 11429"/>
            </a:avLst>
          </a:prstGeom>
          <a:solidFill>
            <a:srgbClr val="0F2E23"/>
          </a:solidFill>
          <a:ln w="12700">
            <a:solidFill>
              <a:srgbClr val="1C4435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5669280" y="418795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FFC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NIVEAUX  ·  20 $ → 1 000 $</a:t>
            </a:r>
            <a:endParaRPr lang="en-US" sz="900" dirty="0"/>
          </a:p>
        </p:txBody>
      </p:sp>
      <p:sp>
        <p:nvSpPr>
          <p:cNvPr id="114" name="Text 112"/>
          <p:cNvSpPr/>
          <p:nvPr/>
        </p:nvSpPr>
        <p:spPr>
          <a:xfrm>
            <a:off x="5669280" y="4379976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$20 → $50 → $100 → $200</a:t>
            </a:r>
            <a:endParaRPr lang="en-US" sz="1000" dirty="0"/>
          </a:p>
        </p:txBody>
      </p:sp>
      <p:sp>
        <p:nvSpPr>
          <p:cNvPr id="115" name="Text 113"/>
          <p:cNvSpPr/>
          <p:nvPr/>
        </p:nvSpPr>
        <p:spPr>
          <a:xfrm>
            <a:off x="5669280" y="4581144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$400 → $600 → $800 → $1,000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823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971800" y="-1600200"/>
            <a:ext cx="6858000" cy="6858000"/>
          </a:xfrm>
          <a:prstGeom prst="ellipse">
            <a:avLst/>
          </a:prstGeom>
          <a:solidFill>
            <a:srgbClr val="4ADE80">
              <a:alpha val="6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600200" y="-228600"/>
            <a:ext cx="4114800" cy="4114800"/>
          </a:xfrm>
          <a:prstGeom prst="ellipse">
            <a:avLst/>
          </a:prstGeom>
          <a:solidFill>
            <a:srgbClr val="4ADE80">
              <a:alpha val="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256032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4ADE8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2560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25603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SuperAd</a:t>
            </a:r>
            <a:pPr indent="0" marL="0">
              <a:buNone/>
            </a:pPr>
            <a:r>
              <a:rPr lang="en-US" sz="14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9144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500" kern="0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DE REVENUS 2  ·  COMMENT ÇA MARCHE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57200" y="11887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-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 FILLEULS, </a:t>
            </a:r>
            <a:pPr indent="0" marL="0">
              <a:buNone/>
            </a:pPr>
            <a:r>
              <a:rPr lang="en-US" sz="3000" b="1" spc="-50" kern="0" dirty="0">
                <a:solidFill>
                  <a:srgbClr val="FFC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CYCLE COMPLET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457200" y="17830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Scénario : 64 filleuls personnels activent votre niveau. Voici ce que vous gagnez par niveau — et cumulé sur les 8 niveaux.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286000"/>
            <a:ext cx="8229600" cy="210312"/>
          </a:xfrm>
          <a:prstGeom prst="rect">
            <a:avLst/>
          </a:prstGeom>
          <a:solidFill>
            <a:srgbClr val="0F2E2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286000"/>
            <a:ext cx="6400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FFC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NIVEAU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1097280" y="2286000"/>
            <a:ext cx="1005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FFC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PRIX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2103120" y="2286000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FFC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(40%)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566160" y="2286000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FFC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UNI-LEVEL (6,25%)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394960" y="2286000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FFC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BONUS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6858000" y="2286000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FFC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/ CYCLE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57200" y="2496312"/>
            <a:ext cx="8229600" cy="210312"/>
          </a:xfrm>
          <a:prstGeom prst="rect">
            <a:avLst/>
          </a:prstGeom>
          <a:solidFill>
            <a:srgbClr val="0F2E23">
              <a:alpha val="6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2496312"/>
            <a:ext cx="6400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T1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1097280" y="2496312"/>
            <a:ext cx="1005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$20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103120" y="2496312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$512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566160" y="2496312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$80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394960" y="2496312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$64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858000" y="2496312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$656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57200" y="2706624"/>
            <a:ext cx="6400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T2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1097280" y="2706624"/>
            <a:ext cx="1005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$50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2103120" y="2706624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$1,280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3566160" y="2706624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$200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5394960" y="2706624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$160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858000" y="2706624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$1,640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57200" y="2916936"/>
            <a:ext cx="8229600" cy="210312"/>
          </a:xfrm>
          <a:prstGeom prst="rect">
            <a:avLst/>
          </a:prstGeom>
          <a:solidFill>
            <a:srgbClr val="0F2E23">
              <a:alpha val="6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2916936"/>
            <a:ext cx="6400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T3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1097280" y="2916936"/>
            <a:ext cx="1005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$100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2103120" y="2916936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$2,560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3566160" y="2916936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$400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5394960" y="2916936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$320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6858000" y="2916936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$3,280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457200" y="3127248"/>
            <a:ext cx="6400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T4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1097280" y="3127248"/>
            <a:ext cx="1005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$200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2103120" y="3127248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$5,120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3566160" y="3127248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$800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5394960" y="3127248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$640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6858000" y="3127248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$6,560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457200" y="3337560"/>
            <a:ext cx="8229600" cy="210312"/>
          </a:xfrm>
          <a:prstGeom prst="rect">
            <a:avLst/>
          </a:prstGeom>
          <a:solidFill>
            <a:srgbClr val="0F2E23">
              <a:alpha val="6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57200" y="3337560"/>
            <a:ext cx="6400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T5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1097280" y="3337560"/>
            <a:ext cx="1005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$400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2103120" y="3337560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$10,240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3566160" y="3337560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$1,600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5394960" y="3337560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$1,280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6858000" y="3337560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$13,120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457200" y="3547872"/>
            <a:ext cx="6400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T6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1097280" y="3547872"/>
            <a:ext cx="1005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$600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2103120" y="3547872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$15,360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3566160" y="3547872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$2,400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5394960" y="3547872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$1,920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6858000" y="3547872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$19,680</a:t>
            </a:r>
            <a:endParaRPr lang="en-US" sz="1050" dirty="0"/>
          </a:p>
        </p:txBody>
      </p:sp>
      <p:sp>
        <p:nvSpPr>
          <p:cNvPr id="56" name="Shape 54"/>
          <p:cNvSpPr/>
          <p:nvPr/>
        </p:nvSpPr>
        <p:spPr>
          <a:xfrm>
            <a:off x="457200" y="3758184"/>
            <a:ext cx="8229600" cy="210312"/>
          </a:xfrm>
          <a:prstGeom prst="rect">
            <a:avLst/>
          </a:prstGeom>
          <a:solidFill>
            <a:srgbClr val="0F2E23">
              <a:alpha val="6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57200" y="3758184"/>
            <a:ext cx="6400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T7</a:t>
            </a:r>
            <a:endParaRPr lang="en-US" sz="950" dirty="0"/>
          </a:p>
        </p:txBody>
      </p:sp>
      <p:sp>
        <p:nvSpPr>
          <p:cNvPr id="58" name="Text 56"/>
          <p:cNvSpPr/>
          <p:nvPr/>
        </p:nvSpPr>
        <p:spPr>
          <a:xfrm>
            <a:off x="1097280" y="3758184"/>
            <a:ext cx="1005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$800</a:t>
            </a:r>
            <a:endParaRPr lang="en-US" sz="950" dirty="0"/>
          </a:p>
        </p:txBody>
      </p:sp>
      <p:sp>
        <p:nvSpPr>
          <p:cNvPr id="59" name="Text 57"/>
          <p:cNvSpPr/>
          <p:nvPr/>
        </p:nvSpPr>
        <p:spPr>
          <a:xfrm>
            <a:off x="2103120" y="3758184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$20,480</a:t>
            </a:r>
            <a:endParaRPr lang="en-US" sz="950" dirty="0"/>
          </a:p>
        </p:txBody>
      </p:sp>
      <p:sp>
        <p:nvSpPr>
          <p:cNvPr id="60" name="Text 58"/>
          <p:cNvSpPr/>
          <p:nvPr/>
        </p:nvSpPr>
        <p:spPr>
          <a:xfrm>
            <a:off x="3566160" y="3758184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$3,200</a:t>
            </a:r>
            <a:endParaRPr lang="en-US" sz="950" dirty="0"/>
          </a:p>
        </p:txBody>
      </p:sp>
      <p:sp>
        <p:nvSpPr>
          <p:cNvPr id="61" name="Text 59"/>
          <p:cNvSpPr/>
          <p:nvPr/>
        </p:nvSpPr>
        <p:spPr>
          <a:xfrm>
            <a:off x="5394960" y="3758184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$2,560</a:t>
            </a:r>
            <a:endParaRPr lang="en-US" sz="950" dirty="0"/>
          </a:p>
        </p:txBody>
      </p:sp>
      <p:sp>
        <p:nvSpPr>
          <p:cNvPr id="62" name="Text 60"/>
          <p:cNvSpPr/>
          <p:nvPr/>
        </p:nvSpPr>
        <p:spPr>
          <a:xfrm>
            <a:off x="6858000" y="3758184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$26,240</a:t>
            </a:r>
            <a:endParaRPr lang="en-US" sz="1050" dirty="0"/>
          </a:p>
        </p:txBody>
      </p:sp>
      <p:sp>
        <p:nvSpPr>
          <p:cNvPr id="63" name="Shape 61"/>
          <p:cNvSpPr/>
          <p:nvPr/>
        </p:nvSpPr>
        <p:spPr>
          <a:xfrm>
            <a:off x="457200" y="3968496"/>
            <a:ext cx="8229600" cy="210312"/>
          </a:xfrm>
          <a:prstGeom prst="rect">
            <a:avLst/>
          </a:prstGeom>
          <a:solidFill>
            <a:srgbClr val="4ADE80">
              <a:alpha val="25000"/>
            </a:srgbClr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57200" y="3968496"/>
            <a:ext cx="6400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T8</a:t>
            </a:r>
            <a:endParaRPr lang="en-US" sz="950" dirty="0"/>
          </a:p>
        </p:txBody>
      </p:sp>
      <p:sp>
        <p:nvSpPr>
          <p:cNvPr id="65" name="Text 63"/>
          <p:cNvSpPr/>
          <p:nvPr/>
        </p:nvSpPr>
        <p:spPr>
          <a:xfrm>
            <a:off x="1097280" y="3968496"/>
            <a:ext cx="1005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$1,000</a:t>
            </a:r>
            <a:endParaRPr lang="en-US" sz="950" dirty="0"/>
          </a:p>
        </p:txBody>
      </p:sp>
      <p:sp>
        <p:nvSpPr>
          <p:cNvPr id="66" name="Text 64"/>
          <p:cNvSpPr/>
          <p:nvPr/>
        </p:nvSpPr>
        <p:spPr>
          <a:xfrm>
            <a:off x="2103120" y="3968496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$25,600</a:t>
            </a:r>
            <a:endParaRPr lang="en-US" sz="950" dirty="0"/>
          </a:p>
        </p:txBody>
      </p:sp>
      <p:sp>
        <p:nvSpPr>
          <p:cNvPr id="67" name="Text 65"/>
          <p:cNvSpPr/>
          <p:nvPr/>
        </p:nvSpPr>
        <p:spPr>
          <a:xfrm>
            <a:off x="3566160" y="3968496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$4,000</a:t>
            </a:r>
            <a:endParaRPr lang="en-US" sz="950" dirty="0"/>
          </a:p>
        </p:txBody>
      </p:sp>
      <p:sp>
        <p:nvSpPr>
          <p:cNvPr id="68" name="Text 66"/>
          <p:cNvSpPr/>
          <p:nvPr/>
        </p:nvSpPr>
        <p:spPr>
          <a:xfrm>
            <a:off x="5394960" y="3968496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$3,200</a:t>
            </a:r>
            <a:endParaRPr lang="en-US" sz="950" dirty="0"/>
          </a:p>
        </p:txBody>
      </p:sp>
      <p:sp>
        <p:nvSpPr>
          <p:cNvPr id="69" name="Text 67"/>
          <p:cNvSpPr/>
          <p:nvPr/>
        </p:nvSpPr>
        <p:spPr>
          <a:xfrm>
            <a:off x="6858000" y="3968496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$32,800</a:t>
            </a:r>
            <a:endParaRPr lang="en-US" sz="1050" dirty="0"/>
          </a:p>
        </p:txBody>
      </p:sp>
      <p:sp>
        <p:nvSpPr>
          <p:cNvPr id="70" name="Shape 68"/>
          <p:cNvSpPr/>
          <p:nvPr/>
        </p:nvSpPr>
        <p:spPr>
          <a:xfrm>
            <a:off x="457200" y="4389120"/>
            <a:ext cx="8229600" cy="411480"/>
          </a:xfrm>
          <a:prstGeom prst="roundRect">
            <a:avLst>
              <a:gd name="adj" fmla="val 44444"/>
            </a:avLst>
          </a:prstGeom>
          <a:solidFill>
            <a:srgbClr val="0F2E23"/>
          </a:solidFill>
          <a:ln w="19050">
            <a:solidFill>
              <a:srgbClr val="4ADE8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457200" y="43891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CUMULÉ SUR LES 8 NIVEAUX   </a:t>
            </a:r>
            <a:pPr algn="ctr" indent="0" marL="0">
              <a:buNone/>
            </a:pPr>
            <a:r>
              <a:rPr lang="en-US" sz="20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103 976 $</a:t>
            </a:r>
            <a:pPr algn="ctr" indent="0" marL="0">
              <a:buNone/>
            </a:pPr>
            <a:r>
              <a:rPr lang="en-US" sz="10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les grilles se réinitialisent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0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971800" y="-1600200"/>
            <a:ext cx="6858000" cy="6858000"/>
          </a:xfrm>
          <a:prstGeom prst="ellipse">
            <a:avLst/>
          </a:prstGeom>
          <a:solidFill>
            <a:srgbClr val="C084FC">
              <a:alpha val="6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600200" y="-228600"/>
            <a:ext cx="4114800" cy="4114800"/>
          </a:xfrm>
          <a:prstGeom prst="ellipse">
            <a:avLst/>
          </a:prstGeom>
          <a:solidFill>
            <a:srgbClr val="C084FC">
              <a:alpha val="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256032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C084F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2560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25603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SuperAd</a:t>
            </a:r>
            <a:pPr indent="0" marL="0">
              <a:buNone/>
            </a:pPr>
            <a:r>
              <a:rPr lang="en-US" sz="140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91440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500" kern="0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DE REVENUS 3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57200" y="118872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-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CREDIT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457200" y="169164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-50" kern="0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NEXUS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457200" y="2331720"/>
            <a:ext cx="5029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Quand vos filleuls — ou n'importe qui dans votre matrice — achètent des crédits pour Creative Studio, vous gagnez. 15% sur les directs, 10% sur les spillover, 10% de bonus. Sans niveau requis.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3017520"/>
            <a:ext cx="5029200" cy="384048"/>
          </a:xfrm>
          <a:prstGeom prst="roundRect">
            <a:avLst>
              <a:gd name="adj" fmla="val 19048"/>
            </a:avLst>
          </a:prstGeom>
          <a:solidFill>
            <a:srgbClr val="211550"/>
          </a:solidFill>
          <a:ln w="12700">
            <a:solidFill>
              <a:srgbClr val="3B247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301752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15%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508760" y="3054096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FILLEULS DIRECTS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1508760" y="3200400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Chaque pack de crédits acheté par un filleul personnel.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57200" y="3456432"/>
            <a:ext cx="5029200" cy="384048"/>
          </a:xfrm>
          <a:prstGeom prst="roundRect">
            <a:avLst>
              <a:gd name="adj" fmla="val 19048"/>
            </a:avLst>
          </a:prstGeom>
          <a:solidFill>
            <a:srgbClr val="211550"/>
          </a:solidFill>
          <a:ln w="12700">
            <a:solidFill>
              <a:srgbClr val="3B247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3456432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508760" y="3493008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SPILLOVER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1508760" y="3639312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Chaque pack acheté par quelqu'un dans votre matrice qui n'est pas un direct.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57200" y="3895344"/>
            <a:ext cx="5029200" cy="384048"/>
          </a:xfrm>
          <a:prstGeom prst="roundRect">
            <a:avLst>
              <a:gd name="adj" fmla="val 19048"/>
            </a:avLst>
          </a:prstGeom>
          <a:solidFill>
            <a:srgbClr val="211550"/>
          </a:solidFill>
          <a:ln w="12700">
            <a:solidFill>
              <a:srgbClr val="3B247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3895344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508760" y="3931920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BONUS DE COMPLÉTION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1508760" y="4078224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Quand votre matrice 3×3 se remplit (39 positions), bonus payé. Réinitialisez, répétez.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57200" y="4434840"/>
            <a:ext cx="5029200" cy="347472"/>
          </a:xfrm>
          <a:prstGeom prst="roundRect">
            <a:avLst>
              <a:gd name="adj" fmla="val 50000"/>
            </a:avLst>
          </a:prstGeom>
          <a:solidFill>
            <a:srgbClr val="211550"/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4360" y="4434840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Variable</a:t>
            </a:r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—  les matrices se réinitialisent pour toujours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669280" y="8686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VOTRE PROFIT NEXUS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715000" y="1234440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L1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715000" y="146304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15%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6492240" y="1234440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C084FC">
              <a:alpha val="60000"/>
            </a:srgbClr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92240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6967728" y="1234440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C084FC">
              <a:alpha val="60000"/>
            </a:srgbClr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967728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7443216" y="1234440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C084FC">
              <a:alpha val="60000"/>
            </a:srgbClr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443216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5715000" y="1920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L2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715000" y="214884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6492240" y="1783080"/>
            <a:ext cx="201168" cy="274320"/>
          </a:xfrm>
          <a:prstGeom prst="roundRect">
            <a:avLst>
              <a:gd name="adj" fmla="val 18182"/>
            </a:avLst>
          </a:prstGeom>
          <a:solidFill>
            <a:srgbClr val="211550"/>
          </a:solidFill>
          <a:ln w="9525">
            <a:solidFill>
              <a:srgbClr val="C084FC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729984" y="1783080"/>
            <a:ext cx="201168" cy="274320"/>
          </a:xfrm>
          <a:prstGeom prst="roundRect">
            <a:avLst>
              <a:gd name="adj" fmla="val 18182"/>
            </a:avLst>
          </a:prstGeom>
          <a:solidFill>
            <a:srgbClr val="211550"/>
          </a:solidFill>
          <a:ln w="9525">
            <a:solidFill>
              <a:srgbClr val="C084FC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967728" y="1783080"/>
            <a:ext cx="201168" cy="274320"/>
          </a:xfrm>
          <a:prstGeom prst="roundRect">
            <a:avLst>
              <a:gd name="adj" fmla="val 18182"/>
            </a:avLst>
          </a:prstGeom>
          <a:solidFill>
            <a:srgbClr val="211550"/>
          </a:solidFill>
          <a:ln w="9525">
            <a:solidFill>
              <a:srgbClr val="C084FC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205472" y="1783080"/>
            <a:ext cx="201168" cy="274320"/>
          </a:xfrm>
          <a:prstGeom prst="roundRect">
            <a:avLst>
              <a:gd name="adj" fmla="val 18182"/>
            </a:avLst>
          </a:prstGeom>
          <a:solidFill>
            <a:srgbClr val="281862">
              <a:alpha val="70000"/>
            </a:srgbClr>
          </a:solidFill>
          <a:ln w="9525">
            <a:solidFill>
              <a:srgbClr val="3B2478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443216" y="1783080"/>
            <a:ext cx="201168" cy="274320"/>
          </a:xfrm>
          <a:prstGeom prst="roundRect">
            <a:avLst>
              <a:gd name="adj" fmla="val 18182"/>
            </a:avLst>
          </a:prstGeom>
          <a:solidFill>
            <a:srgbClr val="281862">
              <a:alpha val="70000"/>
            </a:srgbClr>
          </a:solidFill>
          <a:ln w="9525">
            <a:solidFill>
              <a:srgbClr val="3B2478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680960" y="1783080"/>
            <a:ext cx="201168" cy="274320"/>
          </a:xfrm>
          <a:prstGeom prst="roundRect">
            <a:avLst>
              <a:gd name="adj" fmla="val 18182"/>
            </a:avLst>
          </a:prstGeom>
          <a:solidFill>
            <a:srgbClr val="281862">
              <a:alpha val="70000"/>
            </a:srgbClr>
          </a:solidFill>
          <a:ln w="9525">
            <a:solidFill>
              <a:srgbClr val="3B247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715000" y="25603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L3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5715000" y="278892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6492240" y="233172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711696" y="233172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931152" y="233172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150608" y="233172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7370064" y="233172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7589520" y="233172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7808976" y="233172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8028432" y="233172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8247888" y="233172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492240" y="251460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6711696" y="251460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6931152" y="251460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150608" y="251460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7370064" y="251460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7589520" y="251460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7808976" y="251460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8028432" y="251460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8247888" y="251460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492240" y="269748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6711696" y="269748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6931152" y="269748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7150608" y="269748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7370064" y="269748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7589520" y="269748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7808976" y="269748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8028432" y="269748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8247888" y="269748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5669280" y="2999232"/>
            <a:ext cx="3200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i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+ 9 + 27 = 39 positions par matrice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5669280" y="3246120"/>
            <a:ext cx="3200400" cy="1280160"/>
          </a:xfrm>
          <a:prstGeom prst="roundRect">
            <a:avLst>
              <a:gd name="adj" fmla="val 5714"/>
            </a:avLst>
          </a:prstGeom>
          <a:solidFill>
            <a:srgbClr val="211550"/>
          </a:solidFill>
          <a:ln w="12700">
            <a:solidFill>
              <a:srgbClr val="3B2478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5669280" y="329184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300" kern="0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NIVEAUX DE PACKS INDÉPENDANTS</a:t>
            </a:r>
            <a:endParaRPr lang="en-US" sz="950" dirty="0"/>
          </a:p>
        </p:txBody>
      </p:sp>
      <p:sp>
        <p:nvSpPr>
          <p:cNvPr id="74" name="Text 72"/>
          <p:cNvSpPr/>
          <p:nvPr/>
        </p:nvSpPr>
        <p:spPr>
          <a:xfrm>
            <a:off x="5669280" y="3502152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$20  $50  $100  $200</a:t>
            </a:r>
            <a:endParaRPr lang="en-US" sz="1100" dirty="0"/>
          </a:p>
        </p:txBody>
      </p:sp>
      <p:sp>
        <p:nvSpPr>
          <p:cNvPr id="75" name="Text 73"/>
          <p:cNvSpPr/>
          <p:nvPr/>
        </p:nvSpPr>
        <p:spPr>
          <a:xfrm>
            <a:off x="5669280" y="3739896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$400  $600  $800  $1,000</a:t>
            </a:r>
            <a:endParaRPr lang="en-US" sz="1100" dirty="0"/>
          </a:p>
        </p:txBody>
      </p:sp>
      <p:sp>
        <p:nvSpPr>
          <p:cNvPr id="76" name="Text 74"/>
          <p:cNvSpPr/>
          <p:nvPr/>
        </p:nvSpPr>
        <p:spPr>
          <a:xfrm>
            <a:off x="5669280" y="400507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Chaque pack a sa propre matrice</a:t>
            </a:r>
            <a:endParaRPr lang="en-US" sz="850" dirty="0"/>
          </a:p>
        </p:txBody>
      </p:sp>
      <p:sp>
        <p:nvSpPr>
          <p:cNvPr id="77" name="Text 75"/>
          <p:cNvSpPr/>
          <p:nvPr/>
        </p:nvSpPr>
        <p:spPr>
          <a:xfrm>
            <a:off x="5669280" y="4224528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Sans niveau requis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0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971800" y="-1600200"/>
            <a:ext cx="6858000" cy="6858000"/>
          </a:xfrm>
          <a:prstGeom prst="ellipse">
            <a:avLst/>
          </a:prstGeom>
          <a:solidFill>
            <a:srgbClr val="C084FC">
              <a:alpha val="6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600200" y="-228600"/>
            <a:ext cx="4114800" cy="4114800"/>
          </a:xfrm>
          <a:prstGeom prst="ellipse">
            <a:avLst/>
          </a:prstGeom>
          <a:solidFill>
            <a:srgbClr val="C084FC">
              <a:alpha val="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256032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C084F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2560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25603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SuperAd</a:t>
            </a:r>
            <a:pPr indent="0" marL="0">
              <a:buNone/>
            </a:pPr>
            <a:r>
              <a:rPr lang="en-US" sz="140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9144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500" kern="0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DE REVENUS 3  ·  COMMENT ÇA MARCHE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57200" y="11887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-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UTILISÉS, </a:t>
            </a:r>
            <a:pPr indent="0" marL="0">
              <a:buNone/>
            </a:pPr>
            <a:r>
              <a:rPr lang="en-US" sz="3000" b="1" spc="-50" kern="0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PUIS RACHETÉS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457200" y="18288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packs de crédits sont consommés par Creative Studio (vidéo IA, image, voix). À court, ils rachètent — chaque achat paie à nouveau des commissions. Voilà le moteur.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62940" y="2788920"/>
            <a:ext cx="1783080" cy="1097280"/>
          </a:xfrm>
          <a:prstGeom prst="roundRect">
            <a:avLst>
              <a:gd name="adj" fmla="val 8333"/>
            </a:avLst>
          </a:prstGeom>
          <a:solidFill>
            <a:srgbClr val="211550"/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353312" y="2587752"/>
            <a:ext cx="402336" cy="402336"/>
          </a:xfrm>
          <a:prstGeom prst="ellipse">
            <a:avLst/>
          </a:prstGeom>
          <a:solidFill>
            <a:srgbClr val="C084FC"/>
          </a:solidFill>
          <a:ln w="25400">
            <a:solidFill>
              <a:srgbClr val="1A0F3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353312" y="25877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62940" y="306324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ACHAT DE CRÉDITS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54380" y="3355848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filleul achète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pack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464308" y="2788920"/>
            <a:ext cx="228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2674620" y="2788920"/>
            <a:ext cx="1783080" cy="1097280"/>
          </a:xfrm>
          <a:prstGeom prst="roundRect">
            <a:avLst>
              <a:gd name="adj" fmla="val 8333"/>
            </a:avLst>
          </a:prstGeom>
          <a:solidFill>
            <a:srgbClr val="211550"/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364992" y="2587752"/>
            <a:ext cx="402336" cy="402336"/>
          </a:xfrm>
          <a:prstGeom prst="ellipse">
            <a:avLst/>
          </a:prstGeom>
          <a:solidFill>
            <a:srgbClr val="C084FC"/>
          </a:solidFill>
          <a:ln w="25400">
            <a:solidFill>
              <a:srgbClr val="1A0F3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64992" y="25877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2674620" y="306324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VOUS GAGNEZ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766060" y="3355848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15% direct /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 matrice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475988" y="2788920"/>
            <a:ext cx="228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4686300" y="2788920"/>
            <a:ext cx="1783080" cy="1097280"/>
          </a:xfrm>
          <a:prstGeom prst="roundRect">
            <a:avLst>
              <a:gd name="adj" fmla="val 8333"/>
            </a:avLst>
          </a:prstGeom>
          <a:solidFill>
            <a:srgbClr val="211550"/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376672" y="2587752"/>
            <a:ext cx="402336" cy="402336"/>
          </a:xfrm>
          <a:prstGeom prst="ellipse">
            <a:avLst/>
          </a:prstGeom>
          <a:solidFill>
            <a:srgbClr val="C084FC"/>
          </a:solidFill>
          <a:ln w="25400">
            <a:solidFill>
              <a:srgbClr val="1A0F3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376672" y="25877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686300" y="306324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CRÉDITS CONSOMMÉS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777740" y="3355848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Ils utilisent leurs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crédits sur l'IA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487668" y="2788920"/>
            <a:ext cx="228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6697980" y="2788920"/>
            <a:ext cx="1783080" cy="1097280"/>
          </a:xfrm>
          <a:prstGeom prst="roundRect">
            <a:avLst>
              <a:gd name="adj" fmla="val 8333"/>
            </a:avLst>
          </a:prstGeom>
          <a:solidFill>
            <a:srgbClr val="211550"/>
          </a:solidFill>
          <a:ln w="19050">
            <a:solidFill>
              <a:srgbClr val="C084F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388352" y="2587752"/>
            <a:ext cx="402336" cy="402336"/>
          </a:xfrm>
          <a:prstGeom prst="ellipse">
            <a:avLst/>
          </a:prstGeom>
          <a:solidFill>
            <a:srgbClr val="C084FC"/>
          </a:solidFill>
          <a:ln w="25400">
            <a:solidFill>
              <a:srgbClr val="1A0F3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388352" y="25877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697980" y="306324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RÉPÉTER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789420" y="3355848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Ils rachètent —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vous regagnez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57200" y="4023360"/>
            <a:ext cx="8229600" cy="658368"/>
          </a:xfrm>
          <a:prstGeom prst="roundRect">
            <a:avLst>
              <a:gd name="adj" fmla="val 13889"/>
            </a:avLst>
          </a:prstGeom>
          <a:solidFill>
            <a:srgbClr val="211550"/>
          </a:solidFill>
          <a:ln w="12700">
            <a:solidFill>
              <a:srgbClr val="3B247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" y="406908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EXEMPLE · PACK DE 200 $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57200" y="429768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directs × 30 $ (15%) + 9 L2 × 20 $ (10%) + 27 L3 × 20 $ (10%) + bonus 780 $ = </a:t>
            </a:r>
            <a:pPr algn="ctr" indent="0" marL="0">
              <a:buNone/>
            </a:pPr>
            <a:r>
              <a:rPr lang="en-US" sz="140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1 590 $</a:t>
            </a:r>
            <a:pPr algn="ctr" indent="0" marL="0">
              <a:buNone/>
            </a:pPr>
            <a:r>
              <a:rPr lang="en-US" sz="10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par cycle de matrice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57200" y="475488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Quand ils ont besoin de plus de crédits, le cycle recommence — chaque achat est un nouveau remplissage.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D08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971800" y="-1600200"/>
            <a:ext cx="6858000" cy="6858000"/>
          </a:xfrm>
          <a:prstGeom prst="ellipse">
            <a:avLst/>
          </a:prstGeom>
          <a:solidFill>
            <a:srgbClr val="FB923C">
              <a:alpha val="6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600200" y="-228600"/>
            <a:ext cx="4114800" cy="4114800"/>
          </a:xfrm>
          <a:prstGeom prst="ellipse">
            <a:avLst/>
          </a:prstGeom>
          <a:solidFill>
            <a:srgbClr val="FB923C">
              <a:alpha val="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256032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FB923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2560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25603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SuperAd</a:t>
            </a:r>
            <a:pPr indent="0" marL="0">
              <a:buNone/>
            </a:pPr>
            <a:r>
              <a:rPr lang="en-US" sz="1400" b="1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91440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500" kern="0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DE REVENUS 4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57200" y="118872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-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COURSE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457200" y="169164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-50" kern="0" dirty="0">
                <a:solidFill>
                  <a:srgbClr val="FFC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ACADEMY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457200" y="2331720"/>
            <a:ext cx="5029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Revendez les cours premium d'Academy. Gardez 100% de chaque vente — avec seulement 4 pass-ups pour ouvrir les Income Chains de votre upline. Après la vente 8, chaque vente est à vous pour toujours.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3017520"/>
            <a:ext cx="5029200" cy="384048"/>
          </a:xfrm>
          <a:prstGeom prst="roundRect">
            <a:avLst>
              <a:gd name="adj" fmla="val 19048"/>
            </a:avLst>
          </a:prstGeom>
          <a:solidFill>
            <a:srgbClr val="3A121C"/>
          </a:solidFill>
          <a:ln w="12700">
            <a:solidFill>
              <a:srgbClr val="5A1E2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301752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508760" y="3054096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FFC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 CHAQUE VENTE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1508760" y="3200400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Commission complète sur chaque vente si vous êtes qualifié.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57200" y="3456432"/>
            <a:ext cx="5029200" cy="384048"/>
          </a:xfrm>
          <a:prstGeom prst="roundRect">
            <a:avLst>
              <a:gd name="adj" fmla="val 19048"/>
            </a:avLst>
          </a:prstGeom>
          <a:solidFill>
            <a:srgbClr val="3A121C"/>
          </a:solidFill>
          <a:ln w="12700">
            <a:solidFill>
              <a:srgbClr val="5A1E2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3456432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508760" y="3493008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FFC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PASS-UPS AU TOTAL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1508760" y="3639312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Seules les ventes 2, 4, 6, 8 passent. Dès la 9ème, chaque vente est à vous.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57200" y="3895344"/>
            <a:ext cx="5029200" cy="384048"/>
          </a:xfrm>
          <a:prstGeom prst="roundRect">
            <a:avLst>
              <a:gd name="adj" fmla="val 19048"/>
            </a:avLst>
          </a:prstGeom>
          <a:solidFill>
            <a:srgbClr val="3A121C"/>
          </a:solidFill>
          <a:ln w="12700">
            <a:solidFill>
              <a:srgbClr val="5A1E2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3895344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3+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508760" y="3931920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FFC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PLUSIEURS NIVEAUX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1508760" y="4078224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Qualifiez-vous en achetant le niveau. Niveaux supérieurs = commissions plus grandes.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57200" y="4434840"/>
            <a:ext cx="5029200" cy="347472"/>
          </a:xfrm>
          <a:prstGeom prst="roundRect">
            <a:avLst>
              <a:gd name="adj" fmla="val 50000"/>
            </a:avLst>
          </a:prstGeom>
          <a:solidFill>
            <a:srgbClr val="3A121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4360" y="4434840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de commission</a:t>
            </a:r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cascade infinie via Income Chains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5669280" y="914400"/>
            <a:ext cx="3200400" cy="713232"/>
          </a:xfrm>
          <a:prstGeom prst="roundRect">
            <a:avLst>
              <a:gd name="adj" fmla="val 10256"/>
            </a:avLst>
          </a:prstGeom>
          <a:solidFill>
            <a:srgbClr val="3A121C"/>
          </a:solidFill>
          <a:ln w="12700">
            <a:solidFill>
              <a:srgbClr val="5A1E2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788152" y="1060704"/>
            <a:ext cx="420624" cy="420624"/>
          </a:xfrm>
          <a:prstGeom prst="ellipse">
            <a:avLst/>
          </a:prstGeom>
          <a:solidFill>
            <a:srgbClr val="FB923C">
              <a:alpha val="30000"/>
            </a:srgbClr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788152" y="106070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355080" y="102412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Exemple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355080" y="128016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Cours niveau entrée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8001000" y="1060704"/>
            <a:ext cx="777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FC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$100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5669280" y="1719072"/>
            <a:ext cx="3200400" cy="713232"/>
          </a:xfrm>
          <a:prstGeom prst="roundRect">
            <a:avLst>
              <a:gd name="adj" fmla="val 10256"/>
            </a:avLst>
          </a:prstGeom>
          <a:solidFill>
            <a:srgbClr val="3A121C"/>
          </a:solidFill>
          <a:ln w="12700">
            <a:solidFill>
              <a:srgbClr val="5A1E2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788152" y="1865376"/>
            <a:ext cx="420624" cy="420624"/>
          </a:xfrm>
          <a:prstGeom prst="ellipse">
            <a:avLst/>
          </a:prstGeom>
          <a:solidFill>
            <a:srgbClr val="FB923C">
              <a:alpha val="30000"/>
            </a:srgbClr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788152" y="186537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355080" y="182880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Exemple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355080" y="208483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Cours niveau intermédiaire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8001000" y="1865376"/>
            <a:ext cx="777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FC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$300</a:t>
            </a:r>
            <a:endParaRPr lang="en-US" sz="1800" dirty="0"/>
          </a:p>
        </p:txBody>
      </p:sp>
      <p:sp>
        <p:nvSpPr>
          <p:cNvPr id="37" name="Shape 35"/>
          <p:cNvSpPr/>
          <p:nvPr/>
        </p:nvSpPr>
        <p:spPr>
          <a:xfrm>
            <a:off x="5669280" y="2523744"/>
            <a:ext cx="3200400" cy="713232"/>
          </a:xfrm>
          <a:prstGeom prst="roundRect">
            <a:avLst>
              <a:gd name="adj" fmla="val 10256"/>
            </a:avLst>
          </a:prstGeom>
          <a:solidFill>
            <a:srgbClr val="3A121C"/>
          </a:solidFill>
          <a:ln w="12700">
            <a:solidFill>
              <a:srgbClr val="5A1E2C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788152" y="2670048"/>
            <a:ext cx="420624" cy="420624"/>
          </a:xfrm>
          <a:prstGeom prst="ellipse">
            <a:avLst/>
          </a:prstGeom>
          <a:solidFill>
            <a:srgbClr val="FB923C">
              <a:alpha val="30000"/>
            </a:srgbClr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788152" y="26700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6355080" y="263347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Exemple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6355080" y="2889504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Cours niveau avancé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8001000" y="2670048"/>
            <a:ext cx="777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FC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$500</a:t>
            </a:r>
            <a:endParaRPr lang="en-US" sz="1800" dirty="0"/>
          </a:p>
        </p:txBody>
      </p:sp>
      <p:sp>
        <p:nvSpPr>
          <p:cNvPr id="43" name="Shape 41"/>
          <p:cNvSpPr/>
          <p:nvPr/>
        </p:nvSpPr>
        <p:spPr>
          <a:xfrm>
            <a:off x="5669280" y="3474720"/>
            <a:ext cx="3200400" cy="1097280"/>
          </a:xfrm>
          <a:prstGeom prst="roundRect">
            <a:avLst>
              <a:gd name="adj" fmla="val 6667"/>
            </a:avLst>
          </a:prstGeom>
          <a:solidFill>
            <a:srgbClr val="3A121C"/>
          </a:solidFill>
          <a:ln w="12700">
            <a:solidFill>
              <a:srgbClr val="5A1E2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669280" y="352044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INCOME CHAINS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5715000" y="3767328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Chaque pass-up ouvre une Income Chain au-dessus de vous.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5715000" y="4005072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Quand VOTRE downline fait un pass-up, vous recevez ces chains — en cascade infinie vers le haut.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D08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971800" y="-1600200"/>
            <a:ext cx="6858000" cy="6858000"/>
          </a:xfrm>
          <a:prstGeom prst="ellipse">
            <a:avLst/>
          </a:prstGeom>
          <a:solidFill>
            <a:srgbClr val="FB923C">
              <a:alpha val="6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600200" y="-228600"/>
            <a:ext cx="4114800" cy="4114800"/>
          </a:xfrm>
          <a:prstGeom prst="ellipse">
            <a:avLst/>
          </a:prstGeom>
          <a:solidFill>
            <a:srgbClr val="FB923C">
              <a:alpha val="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256032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FB923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2560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25603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SuperAd</a:t>
            </a:r>
            <a:pPr indent="0" marL="0">
              <a:buNone/>
            </a:pPr>
            <a:r>
              <a:rPr lang="en-US" sz="1400" b="1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9144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500" kern="0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DE REVENUS 4  ·  COMMENT ÇA MARCHE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57200" y="11887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-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1+UP </a:t>
            </a:r>
            <a:pPr indent="0" marL="0">
              <a:buNone/>
            </a:pPr>
            <a:r>
              <a:rPr lang="en-US" sz="3000" b="1" spc="-50" kern="0" dirty="0">
                <a:solidFill>
                  <a:srgbClr val="FFC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PASS-UP EXPLIQUÉ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457200" y="18288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Seulement 4 pass-ups au total. Les ventes 2, 4, 6, 8 passent — ouvrant les Income Chains de votre upline. Chaque autre vente, y compris la 9ème et au-delà, est 100% à vous.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38912" y="2560320"/>
            <a:ext cx="621792" cy="1051560"/>
          </a:xfrm>
          <a:prstGeom prst="roundRect">
            <a:avLst>
              <a:gd name="adj" fmla="val 11765"/>
            </a:avLst>
          </a:prstGeom>
          <a:solidFill>
            <a:srgbClr val="FB923C">
              <a:alpha val="70000"/>
            </a:srgbClr>
          </a:solidFill>
          <a:ln w="19050">
            <a:solidFill>
              <a:srgbClr val="FB923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8912" y="263347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VENTE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438912" y="2761488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#1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38912" y="3090672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VOUS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38912" y="336499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GARDE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1133856" y="2560320"/>
            <a:ext cx="621792" cy="1051560"/>
          </a:xfrm>
          <a:prstGeom prst="roundRect">
            <a:avLst>
              <a:gd name="adj" fmla="val 11765"/>
            </a:avLst>
          </a:prstGeom>
          <a:solidFill>
            <a:srgbClr val="3A121C"/>
          </a:solidFill>
          <a:ln w="12700">
            <a:solidFill>
              <a:srgbClr val="5A1E2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33856" y="263347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50" kern="0" dirty="0">
                <a:solidFill>
                  <a:srgbClr val="889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VENTE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1133856" y="2761488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#2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133856" y="3090672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33856" y="336499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Chain 1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1828800" y="2560320"/>
            <a:ext cx="621792" cy="1051560"/>
          </a:xfrm>
          <a:prstGeom prst="roundRect">
            <a:avLst>
              <a:gd name="adj" fmla="val 11765"/>
            </a:avLst>
          </a:prstGeom>
          <a:solidFill>
            <a:srgbClr val="FB923C">
              <a:alpha val="70000"/>
            </a:srgbClr>
          </a:solidFill>
          <a:ln w="19050">
            <a:solidFill>
              <a:srgbClr val="FB923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828800" y="263347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VENTE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1828800" y="2761488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#3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828800" y="3090672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VOUS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828800" y="336499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GARDE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2523744" y="2560320"/>
            <a:ext cx="621792" cy="1051560"/>
          </a:xfrm>
          <a:prstGeom prst="roundRect">
            <a:avLst>
              <a:gd name="adj" fmla="val 11765"/>
            </a:avLst>
          </a:prstGeom>
          <a:solidFill>
            <a:srgbClr val="3A121C"/>
          </a:solidFill>
          <a:ln w="12700">
            <a:solidFill>
              <a:srgbClr val="5A1E2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523744" y="263347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50" kern="0" dirty="0">
                <a:solidFill>
                  <a:srgbClr val="889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VENTE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2523744" y="2761488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#4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2523744" y="3090672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2523744" y="336499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Chain 2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3218688" y="2560320"/>
            <a:ext cx="621792" cy="1051560"/>
          </a:xfrm>
          <a:prstGeom prst="roundRect">
            <a:avLst>
              <a:gd name="adj" fmla="val 11765"/>
            </a:avLst>
          </a:prstGeom>
          <a:solidFill>
            <a:srgbClr val="FB923C">
              <a:alpha val="70000"/>
            </a:srgbClr>
          </a:solidFill>
          <a:ln w="19050">
            <a:solidFill>
              <a:srgbClr val="FB923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218688" y="263347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VENTE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3218688" y="2761488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#5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3218688" y="3090672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VOUS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3218688" y="336499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GARDE</a:t>
            </a:r>
            <a:endParaRPr lang="en-US" sz="700" dirty="0"/>
          </a:p>
        </p:txBody>
      </p:sp>
      <p:sp>
        <p:nvSpPr>
          <p:cNvPr id="35" name="Shape 33"/>
          <p:cNvSpPr/>
          <p:nvPr/>
        </p:nvSpPr>
        <p:spPr>
          <a:xfrm>
            <a:off x="3913632" y="2560320"/>
            <a:ext cx="621792" cy="1051560"/>
          </a:xfrm>
          <a:prstGeom prst="roundRect">
            <a:avLst>
              <a:gd name="adj" fmla="val 11765"/>
            </a:avLst>
          </a:prstGeom>
          <a:solidFill>
            <a:srgbClr val="3A121C"/>
          </a:solidFill>
          <a:ln w="12700">
            <a:solidFill>
              <a:srgbClr val="5A1E2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913632" y="263347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50" kern="0" dirty="0">
                <a:solidFill>
                  <a:srgbClr val="889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VENTE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3913632" y="2761488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#6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3913632" y="3090672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3913632" y="336499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Chain 3</a:t>
            </a:r>
            <a:endParaRPr lang="en-US" sz="700" dirty="0"/>
          </a:p>
        </p:txBody>
      </p:sp>
      <p:sp>
        <p:nvSpPr>
          <p:cNvPr id="40" name="Shape 38"/>
          <p:cNvSpPr/>
          <p:nvPr/>
        </p:nvSpPr>
        <p:spPr>
          <a:xfrm>
            <a:off x="4608576" y="2560320"/>
            <a:ext cx="621792" cy="1051560"/>
          </a:xfrm>
          <a:prstGeom prst="roundRect">
            <a:avLst>
              <a:gd name="adj" fmla="val 11765"/>
            </a:avLst>
          </a:prstGeom>
          <a:solidFill>
            <a:srgbClr val="FB923C">
              <a:alpha val="70000"/>
            </a:srgbClr>
          </a:solidFill>
          <a:ln w="19050">
            <a:solidFill>
              <a:srgbClr val="FB923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608576" y="263347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VENTE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4608576" y="2761488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#7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4608576" y="3090672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VOUS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4608576" y="336499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GARDE</a:t>
            </a:r>
            <a:endParaRPr lang="en-US" sz="700" dirty="0"/>
          </a:p>
        </p:txBody>
      </p:sp>
      <p:sp>
        <p:nvSpPr>
          <p:cNvPr id="45" name="Shape 43"/>
          <p:cNvSpPr/>
          <p:nvPr/>
        </p:nvSpPr>
        <p:spPr>
          <a:xfrm>
            <a:off x="5303520" y="2560320"/>
            <a:ext cx="621792" cy="1051560"/>
          </a:xfrm>
          <a:prstGeom prst="roundRect">
            <a:avLst>
              <a:gd name="adj" fmla="val 11765"/>
            </a:avLst>
          </a:prstGeom>
          <a:solidFill>
            <a:srgbClr val="3A121C"/>
          </a:solidFill>
          <a:ln w="12700">
            <a:solidFill>
              <a:srgbClr val="5A1E2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303520" y="263347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50" kern="0" dirty="0">
                <a:solidFill>
                  <a:srgbClr val="889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VENTE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5303520" y="2761488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#8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5303520" y="3090672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5303520" y="336499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Chain 4</a:t>
            </a:r>
            <a:endParaRPr lang="en-US" sz="700" dirty="0"/>
          </a:p>
        </p:txBody>
      </p:sp>
      <p:sp>
        <p:nvSpPr>
          <p:cNvPr id="50" name="Shape 48"/>
          <p:cNvSpPr/>
          <p:nvPr/>
        </p:nvSpPr>
        <p:spPr>
          <a:xfrm>
            <a:off x="5998464" y="2560320"/>
            <a:ext cx="621792" cy="1051560"/>
          </a:xfrm>
          <a:prstGeom prst="roundRect">
            <a:avLst>
              <a:gd name="adj" fmla="val 11765"/>
            </a:avLst>
          </a:prstGeom>
          <a:solidFill>
            <a:srgbClr val="4ADE80">
              <a:alpha val="70000"/>
            </a:srgbClr>
          </a:solidFill>
          <a:ln w="19050">
            <a:solidFill>
              <a:srgbClr val="4ADE8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998464" y="263347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VENTE</a:t>
            </a:r>
            <a:endParaRPr lang="en-US" sz="750" dirty="0"/>
          </a:p>
        </p:txBody>
      </p:sp>
      <p:sp>
        <p:nvSpPr>
          <p:cNvPr id="52" name="Text 50"/>
          <p:cNvSpPr/>
          <p:nvPr/>
        </p:nvSpPr>
        <p:spPr>
          <a:xfrm>
            <a:off x="5998464" y="2761488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#9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5998464" y="3090672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VOUS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5998464" y="336499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i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GARDE</a:t>
            </a:r>
            <a:endParaRPr lang="en-US" sz="700" dirty="0"/>
          </a:p>
        </p:txBody>
      </p:sp>
      <p:sp>
        <p:nvSpPr>
          <p:cNvPr id="55" name="Shape 53"/>
          <p:cNvSpPr/>
          <p:nvPr/>
        </p:nvSpPr>
        <p:spPr>
          <a:xfrm>
            <a:off x="6693408" y="2560320"/>
            <a:ext cx="621792" cy="1051560"/>
          </a:xfrm>
          <a:prstGeom prst="roundRect">
            <a:avLst>
              <a:gd name="adj" fmla="val 11765"/>
            </a:avLst>
          </a:prstGeom>
          <a:solidFill>
            <a:srgbClr val="4ADE80">
              <a:alpha val="70000"/>
            </a:srgbClr>
          </a:solidFill>
          <a:ln w="19050">
            <a:solidFill>
              <a:srgbClr val="4ADE8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693408" y="263347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VENTE</a:t>
            </a:r>
            <a:endParaRPr lang="en-US" sz="750" dirty="0"/>
          </a:p>
        </p:txBody>
      </p:sp>
      <p:sp>
        <p:nvSpPr>
          <p:cNvPr id="57" name="Text 55"/>
          <p:cNvSpPr/>
          <p:nvPr/>
        </p:nvSpPr>
        <p:spPr>
          <a:xfrm>
            <a:off x="6693408" y="2761488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#10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6693408" y="3090672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VOUS</a:t>
            </a:r>
            <a:endParaRPr lang="en-US" sz="1200" dirty="0"/>
          </a:p>
        </p:txBody>
      </p:sp>
      <p:sp>
        <p:nvSpPr>
          <p:cNvPr id="59" name="Text 57"/>
          <p:cNvSpPr/>
          <p:nvPr/>
        </p:nvSpPr>
        <p:spPr>
          <a:xfrm>
            <a:off x="6693408" y="336499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i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GARDE</a:t>
            </a:r>
            <a:endParaRPr lang="en-US" sz="700" dirty="0"/>
          </a:p>
        </p:txBody>
      </p:sp>
      <p:sp>
        <p:nvSpPr>
          <p:cNvPr id="60" name="Shape 58"/>
          <p:cNvSpPr/>
          <p:nvPr/>
        </p:nvSpPr>
        <p:spPr>
          <a:xfrm>
            <a:off x="7388352" y="2560320"/>
            <a:ext cx="621792" cy="1051560"/>
          </a:xfrm>
          <a:prstGeom prst="roundRect">
            <a:avLst>
              <a:gd name="adj" fmla="val 11765"/>
            </a:avLst>
          </a:prstGeom>
          <a:solidFill>
            <a:srgbClr val="4ADE80">
              <a:alpha val="70000"/>
            </a:srgbClr>
          </a:solidFill>
          <a:ln w="19050">
            <a:solidFill>
              <a:srgbClr val="4ADE8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388352" y="263347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VENTE</a:t>
            </a:r>
            <a:endParaRPr lang="en-US" sz="750" dirty="0"/>
          </a:p>
        </p:txBody>
      </p:sp>
      <p:sp>
        <p:nvSpPr>
          <p:cNvPr id="62" name="Text 60"/>
          <p:cNvSpPr/>
          <p:nvPr/>
        </p:nvSpPr>
        <p:spPr>
          <a:xfrm>
            <a:off x="7388352" y="2761488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#11</a:t>
            </a:r>
            <a:endParaRPr lang="en-US" sz="1600" dirty="0"/>
          </a:p>
        </p:txBody>
      </p:sp>
      <p:sp>
        <p:nvSpPr>
          <p:cNvPr id="63" name="Text 61"/>
          <p:cNvSpPr/>
          <p:nvPr/>
        </p:nvSpPr>
        <p:spPr>
          <a:xfrm>
            <a:off x="7388352" y="3090672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VOUS</a:t>
            </a:r>
            <a:endParaRPr lang="en-US" sz="1200" dirty="0"/>
          </a:p>
        </p:txBody>
      </p:sp>
      <p:sp>
        <p:nvSpPr>
          <p:cNvPr id="64" name="Text 62"/>
          <p:cNvSpPr/>
          <p:nvPr/>
        </p:nvSpPr>
        <p:spPr>
          <a:xfrm>
            <a:off x="7388352" y="336499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i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GARDE</a:t>
            </a:r>
            <a:endParaRPr lang="en-US" sz="700" dirty="0"/>
          </a:p>
        </p:txBody>
      </p:sp>
      <p:sp>
        <p:nvSpPr>
          <p:cNvPr id="65" name="Shape 63"/>
          <p:cNvSpPr/>
          <p:nvPr/>
        </p:nvSpPr>
        <p:spPr>
          <a:xfrm>
            <a:off x="8083296" y="2560320"/>
            <a:ext cx="621792" cy="1051560"/>
          </a:xfrm>
          <a:prstGeom prst="roundRect">
            <a:avLst>
              <a:gd name="adj" fmla="val 11765"/>
            </a:avLst>
          </a:prstGeom>
          <a:solidFill>
            <a:srgbClr val="4ADE80">
              <a:alpha val="70000"/>
            </a:srgbClr>
          </a:solidFill>
          <a:ln w="19050">
            <a:solidFill>
              <a:srgbClr val="4ADE8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8083296" y="263347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VENTE</a:t>
            </a:r>
            <a:endParaRPr lang="en-US" sz="750" dirty="0"/>
          </a:p>
        </p:txBody>
      </p:sp>
      <p:sp>
        <p:nvSpPr>
          <p:cNvPr id="67" name="Text 65"/>
          <p:cNvSpPr/>
          <p:nvPr/>
        </p:nvSpPr>
        <p:spPr>
          <a:xfrm>
            <a:off x="8083296" y="2761488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#12</a:t>
            </a:r>
            <a:endParaRPr lang="en-US" sz="1600" dirty="0"/>
          </a:p>
        </p:txBody>
      </p:sp>
      <p:sp>
        <p:nvSpPr>
          <p:cNvPr id="68" name="Text 66"/>
          <p:cNvSpPr/>
          <p:nvPr/>
        </p:nvSpPr>
        <p:spPr>
          <a:xfrm>
            <a:off x="8083296" y="3090672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VOUS</a:t>
            </a:r>
            <a:endParaRPr lang="en-US" sz="1200" dirty="0"/>
          </a:p>
        </p:txBody>
      </p:sp>
      <p:sp>
        <p:nvSpPr>
          <p:cNvPr id="69" name="Text 67"/>
          <p:cNvSpPr/>
          <p:nvPr/>
        </p:nvSpPr>
        <p:spPr>
          <a:xfrm>
            <a:off x="8083296" y="336499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i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GARDE</a:t>
            </a:r>
            <a:endParaRPr lang="en-US" sz="700" dirty="0"/>
          </a:p>
        </p:txBody>
      </p:sp>
      <p:sp>
        <p:nvSpPr>
          <p:cNvPr id="70" name="Text 68"/>
          <p:cNvSpPr/>
          <p:nvPr/>
        </p:nvSpPr>
        <p:spPr>
          <a:xfrm>
            <a:off x="457200" y="37947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i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 chaque vente suivante est 100% à vous, pour toujours</a:t>
            </a:r>
            <a:endParaRPr lang="en-US" sz="1000" dirty="0"/>
          </a:p>
        </p:txBody>
      </p:sp>
      <p:sp>
        <p:nvSpPr>
          <p:cNvPr id="71" name="Shape 69"/>
          <p:cNvSpPr/>
          <p:nvPr/>
        </p:nvSpPr>
        <p:spPr>
          <a:xfrm>
            <a:off x="457200" y="4023360"/>
            <a:ext cx="8229600" cy="758952"/>
          </a:xfrm>
          <a:prstGeom prst="roundRect">
            <a:avLst>
              <a:gd name="adj" fmla="val 12048"/>
            </a:avLst>
          </a:prstGeom>
          <a:solidFill>
            <a:srgbClr val="3A121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457200" y="406908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L'ESSENTIEL</a:t>
            </a:r>
            <a:endParaRPr lang="en-US" sz="900" dirty="0"/>
          </a:p>
        </p:txBody>
      </p:sp>
      <p:sp>
        <p:nvSpPr>
          <p:cNvPr id="73" name="Text 71"/>
          <p:cNvSpPr/>
          <p:nvPr/>
        </p:nvSpPr>
        <p:spPr>
          <a:xfrm>
            <a:off x="457200" y="429768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Cédez 4 ventes pour ouvrir 4 Income Chains vers le haut  ·  Puis gardez </a:t>
            </a:r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chaque</a:t>
            </a:r>
            <a:pPr algn="ctr" indent="0" marL="0">
              <a:buNone/>
            </a:pPr>
            <a:r>
              <a:rPr lang="en-US" sz="11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vente qui suit</a:t>
            </a:r>
            <a:endParaRPr lang="en-US" sz="1100" dirty="0"/>
          </a:p>
        </p:txBody>
      </p:sp>
      <p:sp>
        <p:nvSpPr>
          <p:cNvPr id="74" name="Text 72"/>
          <p:cNvSpPr/>
          <p:nvPr/>
        </p:nvSpPr>
        <p:spPr>
          <a:xfrm>
            <a:off x="457200" y="4535424"/>
            <a:ext cx="8229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FFC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pass-ups de votre downline montent dans VOS Income Chains — créant un revenu d'équipe à profondeur infinie.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4 Income Streams</dc:title>
  <dc:subject>PptxGenJS Presentation</dc:subject>
  <dc:creator>SuperAdPro</dc:creator>
  <cp:lastModifiedBy>SuperAdPro</cp:lastModifiedBy>
  <cp:revision>1</cp:revision>
  <dcterms:created xsi:type="dcterms:W3CDTF">2026-04-24T12:15:26Z</dcterms:created>
  <dcterms:modified xsi:type="dcterms:W3CDTF">2026-04-24T12:15:26Z</dcterms:modified>
</cp:coreProperties>
</file>