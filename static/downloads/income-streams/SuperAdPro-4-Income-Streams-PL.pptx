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9AA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TWOJA DROGA DO WOLNOŚCI FINANSOWEJ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-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ŹRÓDŁA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-1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DOCHODU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Cztery sposoby zarabiania z SuperAdPro. Połącz je — każde źródło mnoży twoje wyniki.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58952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ŹRÓDŁO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58952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Polecenia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Członkostwa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3DA5FF">
              <a:alpha val="18000"/>
            </a:srgbClr>
          </a:solidFill>
          <a:ln w="9525">
            <a:solidFill>
              <a:srgbClr val="3D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$17,50/mies.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06624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6624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ŹRÓDŁO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06624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843784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4ADE80">
              <a:alpha val="18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43784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Teoretyczne maksimum: $103 976*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54296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ŹRÓDŁO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54296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C084FC">
              <a:alpha val="18000"/>
            </a:srgbClr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Zmienne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01968" y="3063240"/>
            <a:ext cx="1783080" cy="1143000"/>
          </a:xfrm>
          <a:prstGeom prst="roundRect">
            <a:avLst>
              <a:gd name="adj" fmla="val 8000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1968" y="31546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ŹRÓDŁO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01968" y="3383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739128" y="3931920"/>
            <a:ext cx="1508760" cy="228600"/>
          </a:xfrm>
          <a:prstGeom prst="roundRect">
            <a:avLst>
              <a:gd name="adj" fmla="val 20000"/>
            </a:avLst>
          </a:prstGeom>
          <a:solidFill>
            <a:srgbClr val="FB923C">
              <a:alpha val="18000"/>
            </a:srgbClr>
          </a:solidFill>
          <a:ln w="9525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39128" y="393192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Prowizji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NARZĘDZIA AI  ·  PŁATNOŚCI KRYPTO  ·  GLOBALNA OKAZJA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ŹRÓDŁO DOCHODU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POLECENIA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CZŁONKOSTWA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Zarabiaj 50% cyklicznej prowizji co miesiąc — lub z góry, gdy polecony wybierze roczny plan. Dwa polecenia Pro i członkostwo samo się opłaca.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CYKLICZNIE MIESIĘCZNIE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$10/mies. za polecenie Basic · $17,50/mies. za Pro. Co miesiąc, póki aktywni.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NIEOG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NIEOGRANICZONE POLECENIA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Brak limitu. 10 członków Pro = $175/mies. Skaluj bez sufitu.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SAMO SIĘ SPŁACA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Dwa polecenia Pro pokrywają miesięczną opłatę. Reszta to zysk.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 — $17,50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/mies. cyklicznie  ·  wypłata co miesiąc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914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TWOJA SIEĆ POLECEŃ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325880"/>
            <a:ext cx="640080" cy="64008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583680" y="1984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60336" y="2194560"/>
            <a:ext cx="18288" cy="3200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514600"/>
            <a:ext cx="2331720" cy="18288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806440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601968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327648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327648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123176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40296" y="2606040"/>
            <a:ext cx="402336" cy="402336"/>
          </a:xfrm>
          <a:prstGeom prst="ellipse">
            <a:avLst/>
          </a:prstGeom>
          <a:solidFill>
            <a:srgbClr val="122347"/>
          </a:solidFill>
          <a:ln w="19050">
            <a:solidFill>
              <a:srgbClr val="3DA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0296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6848856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+$17.50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48856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644384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61504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370064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370064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Następny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8165592" y="2532888"/>
            <a:ext cx="18288" cy="91440"/>
          </a:xfrm>
          <a:prstGeom prst="rect">
            <a:avLst/>
          </a:prstGeom>
          <a:solidFill>
            <a:srgbClr val="3DA5FF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982712" y="2606040"/>
            <a:ext cx="402336" cy="402336"/>
          </a:xfrm>
          <a:prstGeom prst="ellipse">
            <a:avLst/>
          </a:prstGeom>
          <a:solidFill>
            <a:srgbClr val="1A2544">
              <a:alpha val="70000"/>
            </a:srgbClr>
          </a:solidFill>
          <a:ln w="19050">
            <a:solidFill>
              <a:srgbClr val="8896B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2606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891272" y="302666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+$?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91272" y="320040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Następny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669280" y="352044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6928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TWÓJ DOCHÓD MIESIĘCZNY · 3 POLECENIA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669280" y="38130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Basic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/mies.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669280" y="41513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   </a:t>
            </a:r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$52,50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/mies.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669280" y="4572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Prowizja na twoim poziomie — upgrade dla wyższej stawki.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3DA5FF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3DA5FF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3DA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ŹRÓDŁO DOCHODU 1  ·  JAK TO DZIAŁA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ROCZNY = </a:t>
            </a:r>
            <a:pPr indent="0" marL="0">
              <a:buNone/>
            </a:pPr>
            <a:r>
              <a:rPr lang="en-US" sz="3000" b="1" spc="-5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GOTÓWKA OD RAZU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Gdy polecony wybiera plan roczny, dostajesz prowizję za cały rok w dniu rejestracji — nie rozłożoną na 12 miesięcy. Prawdziwe pieniądze, teraz, w kieszeni.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12700">
            <a:solidFill>
              <a:srgbClr val="1E37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MIESIĘCZNY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Poleceń Pro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$175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/mies.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Płatność co miesiąc, póki są aktywni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</a:t>
            </a:r>
            <a:pPr algn="ctr" indent="0" marL="0">
              <a:buNone/>
            </a:pPr>
            <a:r>
              <a:rPr lang="en-US" sz="17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$2 100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przez 12 miesięcy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423160"/>
            <a:ext cx="3931920" cy="1691640"/>
          </a:xfrm>
          <a:prstGeom prst="roundRect">
            <a:avLst>
              <a:gd name="adj" fmla="val 6486"/>
            </a:avLst>
          </a:prstGeom>
          <a:solidFill>
            <a:srgbClr val="122347"/>
          </a:solidFill>
          <a:ln w="25400">
            <a:solidFill>
              <a:srgbClr val="3DA5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2313432"/>
            <a:ext cx="960120" cy="256032"/>
          </a:xfrm>
          <a:prstGeom prst="roundRect">
            <a:avLst>
              <a:gd name="adj" fmla="val 28571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231343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1B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NAJLEPSZA OFERTA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754880" y="2532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ROCZNY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7340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Poleceń Pro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0083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$1 750</a:t>
            </a:r>
            <a:pPr algn="ctr" indent="0" marL="0">
              <a:buNone/>
            </a:pPr>
            <a:r>
              <a:rPr lang="en-US" sz="13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 góry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754880" y="35021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Płatne w dniu rejestracji — prowizja za cały rok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37581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Plus: </a:t>
            </a:r>
            <a:pPr algn="ctr" indent="0" marL="0">
              <a:buNone/>
            </a:pPr>
            <a:r>
              <a:rPr lang="en-US" sz="105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odnawiają co roku</a:t>
            </a:r>
            <a:pPr algn="ctr" indent="0" marL="0">
              <a:buNone/>
            </a:pPr>
            <a:r>
              <a:rPr lang="en-US" sz="10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zarabiasz ponownie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34840"/>
            <a:ext cx="8229600" cy="347472"/>
          </a:xfrm>
          <a:prstGeom prst="roundRect">
            <a:avLst>
              <a:gd name="adj" fmla="val 50000"/>
            </a:avLst>
          </a:prstGeom>
          <a:solidFill>
            <a:srgbClr val="122347"/>
          </a:solidFill>
          <a:ln w="12700">
            <a:solidFill>
              <a:srgbClr val="3DA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Rocznie = </a:t>
            </a:r>
            <a:pPr algn="ctr" indent="0" marL="0">
              <a:buNone/>
            </a:pPr>
            <a:r>
              <a:rPr lang="en-US" sz="1300" b="1" dirty="0">
                <a:solidFill>
                  <a:srgbClr val="3DA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$1 750 w ręku dzisiaj</a:t>
            </a:r>
            <a:pPr algn="ctr" indent="0" marL="0">
              <a:buNone/>
            </a:pPr>
            <a:r>
              <a:rPr lang="en-US" sz="100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vs  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czekać 12 miesięcy na tę samą kwotę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ŹRÓDŁO DOCHODU 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 każdym razem gdy polecony aktywuje twój poziom, zarabiasz 40% natychmiast — plus 6,25% na każdej pozycji siatki 8-poziomowej. Zapełnij 64, odbierz bonus, reset, powtórz.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PROWIZJA BEZPOŚREDNIA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Każdy polecony aktywujący twój poziom płaci 40% natychmiast.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× 8 POZIOMÓW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Zarabiaj na każdej pozycji siatki 8×8 — 8 poziomów pod tobą.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UKOŃCZENIA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Zapełnij 64 pozycje, bonus. Siatka się resetuje — dochód cykliczny dopóki członkowie są aktywni.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0F2E23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Teoretyczne maksimum: $103 976*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siatki resetują się i powtarzają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TWOJA SIATKA DOCHODU 8×8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893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294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4944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26948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6948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58952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8952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0956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2344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893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093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294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2940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4944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94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26948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6948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58952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90956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29600" y="15544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893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8932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3093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6294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2940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94944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6948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952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90956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0" y="18745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893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3093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093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6294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62940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694944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26948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58952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90956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229600" y="219456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9893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3093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09360" y="2514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6294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94944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6948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58952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90956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29600" y="251460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9893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4ADE80">
              <a:alpha val="50000"/>
            </a:srgbClr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8932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63093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6294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26948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758952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90956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229600" y="283464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893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3093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6294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94944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726948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58952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90956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229600" y="315468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9893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3093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294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94944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26948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58952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90956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229600" y="3474720"/>
            <a:ext cx="292608" cy="292608"/>
          </a:xfrm>
          <a:prstGeom prst="roundRect">
            <a:avLst>
              <a:gd name="adj" fmla="val 12500"/>
            </a:avLst>
          </a:prstGeom>
          <a:solidFill>
            <a:srgbClr val="0F2E23"/>
          </a:solidFill>
          <a:ln w="6350">
            <a:solidFill>
              <a:srgbClr val="1C443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69280" y="3913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Każda pozycja = aktywny członek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5669280" y="416052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F2E23"/>
          </a:solidFill>
          <a:ln w="12700">
            <a:solidFill>
              <a:srgbClr val="1C443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69280" y="41879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POZIOMÓW  ·  $20 → $1 000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5669280" y="4379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→ $50 → $100 → $200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5669280" y="4581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→ $600 → $800 → $1,000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4ADE80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4ADE80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ADE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ŹRÓDŁO DOCHODU 2  ·  JAK TO DZIAŁA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POLECENIA,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PEŁNY CYKL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Scenariusz: 64 osobiste polecenia aktywują twój poziom. Oto ile zarabiasz na poziomie — i łącznie na wszystkich 8.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210312"/>
          </a:xfrm>
          <a:prstGeom prst="rect">
            <a:avLst/>
          </a:prstGeom>
          <a:solidFill>
            <a:srgbClr val="0F2E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8600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POZIOM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CENA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0312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BEZPOŚR. (40%)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UNI-LEVEL (6,25%)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94960" y="228600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ŁĄCZNIE / CYKL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2496312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49631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0312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56616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49631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4963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270662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097280" y="27066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0312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94960" y="270662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270662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$1,640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2916936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91693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097280" y="291693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10312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56616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394960" y="291693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858000" y="291693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$3,280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3127248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7280" y="312724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$5,120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56616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394960" y="31272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58000" y="312724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$6,560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337560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337560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T5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97280" y="33375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10312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$10,240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56616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$1,600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394960" y="33375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$1,280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858000" y="3337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$13,120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57200" y="3547872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T6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97280" y="35478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$600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210312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$15,360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356616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$2,400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394960" y="35478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$1,920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58000" y="354787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$19,680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57200" y="3758184"/>
            <a:ext cx="8229600" cy="210312"/>
          </a:xfrm>
          <a:prstGeom prst="rect">
            <a:avLst/>
          </a:prstGeom>
          <a:solidFill>
            <a:srgbClr val="0F2E23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758184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T7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1097280" y="375818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$800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210312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$20,480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356616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94960" y="3758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$2,560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858000" y="375818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$26,240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3968496"/>
            <a:ext cx="8229600" cy="210312"/>
          </a:xfrm>
          <a:prstGeom prst="rect">
            <a:avLst/>
          </a:prstGeom>
          <a:solidFill>
            <a:srgbClr val="4ADE80">
              <a:alpha val="25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3968496"/>
            <a:ext cx="640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T8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1097280" y="396849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$1,000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210312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$25,600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356616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$4,000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394960" y="39684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$3,200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858000" y="396849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$32,800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4389120"/>
            <a:ext cx="8229600" cy="411480"/>
          </a:xfrm>
          <a:prstGeom prst="roundRect">
            <a:avLst>
              <a:gd name="adj" fmla="val 44444"/>
            </a:avLst>
          </a:prstGeom>
          <a:solidFill>
            <a:srgbClr val="0F2E23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ŁĄCZNIE NA WSZYSTKICH 8 POZIOMACH   </a:t>
            </a:r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$103 976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siatki resetują się i powtarzają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ŹRÓDŁO DOCHODU 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NEXUS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Gdy poleceni — lub ktokolwiek w matrycy — kupuje pakiety kredytów do Creative Studio, zarabiasz. 15% na bezpośrednich, 10% na spillover, 10% bonus. Bez wymogu poziomu.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POLECENIA BEZPOŚREDNIE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Każdy pakiet kupiony przez osobę, którą osobiście poleciłeś.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SPILLOVER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Każdy pakiet od osoby w matrycy, niebędącej bezpośrednim poleceniem.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UKOŃCZENIA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Gdy matryca 3×3 się zapełni (39 pozycji), bonus. Reset, powtórz.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Zmienne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matryce resetują się i powtarzają na zawsze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669280" y="868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TWÓJ NEXUS ZYSKU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123444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15000" y="1463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92240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67728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443216" y="123444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84FC">
              <a:alpha val="6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715000" y="1920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15000" y="21488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9224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29984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67728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11550"/>
          </a:solidFill>
          <a:ln w="9525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05472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3216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783080"/>
            <a:ext cx="201168" cy="274320"/>
          </a:xfrm>
          <a:prstGeom prst="roundRect">
            <a:avLst>
              <a:gd name="adj" fmla="val 18182"/>
            </a:avLst>
          </a:prstGeom>
          <a:solidFill>
            <a:srgbClr val="281862">
              <a:alpha val="70000"/>
            </a:srgbClr>
          </a:solidFill>
          <a:ln w="9525">
            <a:solidFill>
              <a:srgbClr val="3B2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2560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27889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9224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1169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3115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5060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70064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589520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808976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028432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247888" y="233172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9224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1169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3115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5060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70064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89520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808976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028432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7888" y="251460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9224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71169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3115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5060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70064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808976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028432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47888" y="2697480"/>
            <a:ext cx="182880" cy="146304"/>
          </a:xfrm>
          <a:prstGeom prst="rect">
            <a:avLst/>
          </a:prstGeom>
          <a:solidFill>
            <a:srgbClr val="281862">
              <a:alpha val="80000"/>
            </a:srgbClr>
          </a:solidFill>
          <a:ln w="6350">
            <a:solidFill>
              <a:srgbClr val="3B247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69280" y="2999232"/>
            <a:ext cx="3200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+ 9 + 27 = 39 pozycji na matrycę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69280" y="324612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69280" y="32918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NIEZALEŻNYCH POZIOMÓW PAKIETÓW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669280" y="3502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  $50  $100  $200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669280" y="373989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$400  $600  $800  $1,000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669280" y="40050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Każdy pakiet ma własną matrycę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669280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wymogu poziomu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C084F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C084F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C084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ŹRÓDŁO DOCHODU 3  ·  JAK TO DZIAŁA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UŻYTE, </a:t>
            </a:r>
            <a:pPr indent="0" marL="0">
              <a:buNone/>
            </a:pPr>
            <a:r>
              <a:rPr lang="en-US" sz="3000" b="1" spc="-5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POTEM KUPIONE PONOWNIE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Pakiety kredytów są zużywane przez Creative Studio (wideo AI, obraz, głos). Gdy się skończą, kupują znowu — każdy nowy zakup znów płaci prowizje. Oto silnik.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5331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5331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294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 KREDYTÓW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5438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Polecony kupuje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pakiet kredytów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430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67462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6499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7462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ZARABIASZ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6606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bezpośrednio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matryca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7598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8630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7667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68630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KREDYTY ZUŻYTE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7774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Zużywają kredyty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narzędziach 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87668" y="2788920"/>
            <a:ext cx="228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697980" y="278892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211550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2587752"/>
            <a:ext cx="402336" cy="402336"/>
          </a:xfrm>
          <a:prstGeom prst="ellipse">
            <a:avLst/>
          </a:prstGeom>
          <a:solidFill>
            <a:srgbClr val="C084FC"/>
          </a:solidFill>
          <a:ln w="25400">
            <a:solidFill>
              <a:srgbClr val="1A0F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88352" y="2587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97980" y="3063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POWTÓRZ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89420" y="33558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Kupują znowu 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zarabiasz znowu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11550"/>
          </a:solidFill>
          <a:ln w="12700">
            <a:solidFill>
              <a:srgbClr val="3B2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PRZYKŁAD · PAKIET $200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297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bezpośr. × $30 (15%) + 9 L2 × $20 (10%) + 27 L3 × $20 (10%) + bonus $780 = </a:t>
            </a:r>
            <a:pPr algn="ctr" indent="0" marL="0">
              <a:buNone/>
            </a:pPr>
            <a:r>
              <a:rPr lang="en-US" sz="14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$1 590</a:t>
            </a:r>
            <a:pPr algn="ctr" indent="0" marL="0"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na cykl matrycy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Gdy potrzebują więcej kredytów, cykl zaczyna się od nowa — każdy zakup to nowe wypełnienie matrycy.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ŹRÓDŁO DOCHODU 4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Odsprzedawaj premium kursy z Academy. Zachowaj 100% każdej zarobionej sprzedaży — z tylko 4 pass-upami po drodze, otwierającymi Income Chains twojego uplina. Po sprzedaży 8 każda sprzedaż należy do ciebie na zawsze.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KAŻDEJ SPRZEDAŻY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32004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Pełna prowizja na każdej sprzedaży gdy masz kwalifikację na tym poziomie.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3456432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34930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PASS-UPY RAZEM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08760" y="363931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Tylko sprzedaże 2, 4, 6, 8 pass-up. Od sprzedaży 9 każda jest twoja.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5029200" cy="384048"/>
          </a:xfrm>
          <a:prstGeom prst="roundRect">
            <a:avLst>
              <a:gd name="adj" fmla="val 19048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953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39319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WIELE POZIOMÓW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50876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Kwalifikuj się kupując poziom. Wyższy poziom = większa prowizja.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5029200" cy="347472"/>
          </a:xfrm>
          <a:prstGeom prst="roundRect">
            <a:avLst>
              <a:gd name="adj" fmla="val 50000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348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prowizji</a:t>
            </a:r>
            <a:pPr algn="ctr" indent="0" marL="0">
              <a:buNone/>
            </a:pPr>
            <a:r>
              <a:rPr lang="en-US" sz="9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nieskończona kaskada przez Income Chains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0" y="914400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88152" y="1060704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060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55080" y="1024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Przykład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2801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 poziom początkowy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001000" y="106070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669280" y="1719072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8152" y="1865376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1865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55080" y="18288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Przykład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55080" y="20848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 poziom średni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001000" y="186537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669280" y="2523744"/>
            <a:ext cx="3200400" cy="713232"/>
          </a:xfrm>
          <a:prstGeom prst="roundRect">
            <a:avLst>
              <a:gd name="adj" fmla="val 10256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88152" y="2670048"/>
            <a:ext cx="420624" cy="420624"/>
          </a:xfrm>
          <a:prstGeom prst="ellipse">
            <a:avLst/>
          </a:prstGeom>
          <a:solidFill>
            <a:srgbClr val="FB923C">
              <a:alpha val="3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88152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55080" y="26334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Przykład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355080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Kurs poziom zaawansowany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001000" y="26700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669280" y="347472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0" y="3520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CHAINS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715000" y="376732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Każdy pass-up otwiera Income Chain nad tobą.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Gdy twój downline robi pass-up, ty otrzymujesz te chains — kaskadowo w nieskończoność w górę.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08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971800" y="-1600200"/>
            <a:ext cx="6858000" cy="6858000"/>
          </a:xfrm>
          <a:prstGeom prst="ellipse">
            <a:avLst/>
          </a:prstGeom>
          <a:solidFill>
            <a:srgbClr val="FB923C">
              <a:alpha val="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00200" y="-228600"/>
            <a:ext cx="4114800" cy="4114800"/>
          </a:xfrm>
          <a:prstGeom prst="ellipse">
            <a:avLst/>
          </a:prstGeom>
          <a:solidFill>
            <a:srgbClr val="FB923C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56032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B92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SuperAd</a:t>
            </a:r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ŹRÓDŁO DOCHODU 4  ·  JAK TO DZIAŁA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 DZIAŁA </a:t>
            </a:r>
            <a:pPr indent="0" marL="0">
              <a:buNone/>
            </a:pPr>
            <a:r>
              <a:rPr lang="en-US" sz="3000" b="1" spc="-50" kern="0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1+UP PASS-UP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Tylko 4 pass-upy w sumie. Sprzedaże 2, 4, 6, 8 pass-up — otwierają Income Chains twojego uplina. Każda inna sprzedaż, w tym 9 i dalsze, to 100% twoje.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SPRZEDAŻ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891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891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TWOJA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13385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SPRZEDAŻ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13385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3385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3385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1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2880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SPRZEDAŻ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82880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TWOJA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252374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2374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SPRZEDAŻ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2374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52374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2374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2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1868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1868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SPRZEDAŻ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21868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1868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1868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TWOJA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391363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SPRZEDAŻ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91363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91363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1363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3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0857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FB923C">
              <a:alpha val="70000"/>
            </a:srgbClr>
          </a:solidFill>
          <a:ln w="19050">
            <a:solidFill>
              <a:srgbClr val="FB92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0857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SPRZEDAŻ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0857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60857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60857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TWOJA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3A121C"/>
          </a:solidFill>
          <a:ln w="12700">
            <a:solidFill>
              <a:srgbClr val="5A1E2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0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8896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SPRZEDAŻ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03520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03520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03520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4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5998464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98464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SPRZEDAŻ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5998464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#9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98464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998464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TWOJA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693408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93408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SPRZEDAŻ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693408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93408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693408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TWOJA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388352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88352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SPRZEDAŻ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88352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#11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388352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7388352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TWOJA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083296" y="2560320"/>
            <a:ext cx="621792" cy="1051560"/>
          </a:xfrm>
          <a:prstGeom prst="roundRect">
            <a:avLst>
              <a:gd name="adj" fmla="val 11765"/>
            </a:avLst>
          </a:prstGeom>
          <a:solidFill>
            <a:srgbClr val="4ADE80">
              <a:alpha val="70000"/>
            </a:srgbClr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083296" y="263347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SPRZEDAŻ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8083296" y="2761488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#12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83296" y="309067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8083296" y="33649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TWOJA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457200" y="37947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każda sprzedaż po niej jest 100% twoja, na zawsze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" y="4023360"/>
            <a:ext cx="8229600" cy="758952"/>
          </a:xfrm>
          <a:prstGeom prst="roundRect">
            <a:avLst>
              <a:gd name="adj" fmla="val 12048"/>
            </a:avLst>
          </a:prstGeom>
          <a:solidFill>
            <a:srgbClr val="3A121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57200" y="406908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WNIOSEK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57200" y="42976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Oddaj 4 sprzedaże by otworzyć 4 Income Chains w górę  ·  Potem zachowaj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każdą</a:t>
            </a:r>
            <a:pPr algn="ctr" indent="0" marL="0">
              <a:buNone/>
            </a:pPr>
            <a:r>
              <a:rPr lang="en-US" sz="1100" dirty="0">
                <a:solidFill>
                  <a:srgbClr val="D5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następną sprzedaż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457200" y="453542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C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Pass-upy twojego downline'a idą w górę twoich Income Chains — tworząc dochód zespołowy o nieskończonej głębokości.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Income Streams</dc:title>
  <dc:subject>PptxGenJS Presentation</dc:subject>
  <dc:creator>SuperAdPro</dc:creator>
  <cp:lastModifiedBy>SuperAdPro</cp:lastModifiedBy>
  <cp:revision>1</cp:revision>
  <dcterms:created xsi:type="dcterms:W3CDTF">2026-04-24T12:15:31Z</dcterms:created>
  <dcterms:modified xsi:type="dcterms:W3CDTF">2026-04-24T12:15:31Z</dcterms:modified>
</cp:coreProperties>
</file>